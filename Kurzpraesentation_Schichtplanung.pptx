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Kurzfassung in acht Folien. Wir zeigen die Aufgabe, unser Vorgehen, drei Kernergebnisse und die Antwort auf die Leitfrage.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Kernbotschaft: Das ist kein reines Pflegethema, sondern ein wirtschaftliches. Untergrenzenverstoesse sind sanktionsbewehrt.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Wichtig fuer die Bewertung: Die Methodenwahl ist begruendet, ML wurde nicht als Default angenommen. Erwartbare Rueckfrage - ist das dann KI? Fachlich ja, Suche und Scheduling gehoeren zum Kern der KI. Umgangssprachlich nein, das Modell lernt nichts. Die Aufgabenstellung verlangt eine begruendete Methodenwahl, nicht 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Hier ggf. kurze Live-Demo: Szenario umschalten, Ausfall melden, Plan aendert sich in unter einer Sekunde.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Kernfolie fuer den wirtschaftlichen Teil: Der Mehrwert entsteht nicht im Normalbetrieb, sondern genau dort, wo es eng wird.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Gepoolt ueber alle 15 Instanzen und 608 Personenplaene. Wochenend-Ueberschreitungen sind KEINE Rechtsverstoesse, sondern weiche Abweichungen vom Richtwert - Belastungsschutz, nicht Legalitaet.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Das ist unser methodischer Kernbefund und zugleich die ehrlichste Folie: Nicht das Verfahren entscheidet, sondern die Gewichtung der Ziele. Der Prototyp macht diesen Zielkonflikt entscheidbar, Excel macht ihn unsichtbar.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vier Zahlen sind Mittelwerte ueber die 30 gestoerten Plaene je Verfahren (Szenarien S1 und S2), also der Zustand nach Erstellung und Anpassung. Krankheitsbedingt ausgefallene Dienste sind nach dem Entgeltausfallprinzip (Paragraf 4 EFZG) gutgeschrieben. Abschluss. Wichtig fuer die Diskussion: Wir unterscheiden strikt zwischen gemessenen Ergebnissen und geschaetztem Business Impact. Gemessen sind Regelkonformitaet, Lastverteilung, Planstabilitaet und Rechenzeit. Nicht gemessen, nur plausibel: Reduktion des manuellen Planungsaufwands, Wirkung auf Fluktuation, vermiedene Bettensperrungen.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Text 0"/>
          <p:cNvSpPr txBox="1"/>
          <p:nvPr/>
        </p:nvSpPr>
        <p:spPr>
          <a:xfrm>
            <a:off x="640080" y="1371600"/>
            <a:ext cx="9144000" cy="320040"/>
          </a:xfrm>
          <a:prstGeom prst="rect">
            <a:avLst/>
          </a:prstGeom>
          <a:noFill/>
          <a:ln/>
        </p:spPr>
        <p:txBody>
          <a:bodyPr wrap="square" lIns="0" tIns="0" rIns="0" bIns="0" rtlCol="0" anchor="ctr"/>
          <a:lstStyle/>
          <a:p>
            <a:pPr indent="0" marL="0">
              <a:buNone/>
            </a:pPr>
            <a:r>
              <a:rPr lang="en-US" sz="1300" b="1" spc="200" kern="0" dirty="0">
                <a:solidFill>
                  <a:srgbClr val="EB6834"/>
                </a:solidFill>
                <a:latin typeface="Calibri" pitchFamily="34" charset="0"/>
                <a:ea typeface="Calibri" pitchFamily="34" charset="-122"/>
                <a:cs typeface="Calibri" pitchFamily="34" charset="-120"/>
              </a:rPr>
              <a:t>WPM KI UND MANAGEMENT · KURZFASSUNG</a:t>
            </a:r>
            <a:endParaRPr lang="en-US" sz="1300" dirty="0"/>
          </a:p>
        </p:txBody>
      </p:sp>
      <p:sp>
        <p:nvSpPr>
          <p:cNvPr id="3" name="Text 1"/>
          <p:cNvSpPr txBox="1"/>
          <p:nvPr/>
        </p:nvSpPr>
        <p:spPr>
          <a:xfrm>
            <a:off x="640080" y="1828800"/>
            <a:ext cx="10424160" cy="1463040"/>
          </a:xfrm>
          <a:prstGeom prst="rect">
            <a:avLst/>
          </a:prstGeom>
          <a:noFill/>
          <a:ln/>
        </p:spPr>
        <p:txBody>
          <a:bodyPr wrap="square" lIns="0" tIns="0" rIns="0" bIns="0" rtlCol="0" anchor="ctr"/>
          <a:lstStyle/>
          <a:p>
            <a:pPr indent="0" marL="0">
              <a:lnSpc>
                <a:spcPts val="4600"/>
              </a:lnSpc>
              <a:buNone/>
            </a:pPr>
            <a:r>
              <a:rPr lang="en-US" sz="4400" b="1" dirty="0">
                <a:solidFill>
                  <a:srgbClr val="FFFFFF"/>
                </a:solidFill>
                <a:latin typeface="Cambria" pitchFamily="34" charset="0"/>
                <a:ea typeface="Cambria" pitchFamily="34" charset="-122"/>
                <a:cs typeface="Cambria" pitchFamily="34" charset="-120"/>
              </a:rPr>
              <a:t>KI-gestützte Schichtplanung in der Pflege</a:t>
            </a:r>
            <a:endParaRPr lang="en-US" sz="4400" dirty="0"/>
          </a:p>
        </p:txBody>
      </p:sp>
      <p:sp>
        <p:nvSpPr>
          <p:cNvPr id="4" name="Text 2"/>
          <p:cNvSpPr txBox="1"/>
          <p:nvPr/>
        </p:nvSpPr>
        <p:spPr>
          <a:xfrm>
            <a:off x="640080" y="3429000"/>
            <a:ext cx="9601200" cy="822960"/>
          </a:xfrm>
          <a:prstGeom prst="rect">
            <a:avLst/>
          </a:prstGeom>
          <a:noFill/>
          <a:ln/>
        </p:spPr>
        <p:txBody>
          <a:bodyPr wrap="square" lIns="0" tIns="0" rIns="0" bIns="0" rtlCol="0" anchor="ctr"/>
          <a:lstStyle/>
          <a:p>
            <a:pPr indent="0" marL="0">
              <a:lnSpc>
                <a:spcPts val="2600"/>
              </a:lnSpc>
              <a:buNone/>
            </a:pPr>
            <a:r>
              <a:rPr lang="en-US" sz="1700" dirty="0">
                <a:solidFill>
                  <a:srgbClr val="CADCFC"/>
                </a:solidFill>
                <a:latin typeface="Calibri" pitchFamily="34" charset="0"/>
                <a:ea typeface="Calibri" pitchFamily="34" charset="-122"/>
                <a:cs typeface="Calibri" pitchFamily="34" charset="-120"/>
              </a:rPr>
              <a:t>Was mathematische Optimierung gegenüber regelbasierter Excel-Planung leistet —</a:t>
            </a:r>
            <a:endParaRPr lang="en-US" sz="1700" dirty="0"/>
          </a:p>
          <a:p>
            <a:pPr indent="0" marL="0">
              <a:lnSpc>
                <a:spcPts val="2600"/>
              </a:lnSpc>
              <a:buNone/>
            </a:pPr>
            <a:r>
              <a:rPr lang="en-US" sz="1700" dirty="0">
                <a:solidFill>
                  <a:srgbClr val="CADCFC"/>
                </a:solidFill>
                <a:latin typeface="Calibri" pitchFamily="34" charset="0"/>
                <a:ea typeface="Calibri" pitchFamily="34" charset="-122"/>
                <a:cs typeface="Calibri" pitchFamily="34" charset="-120"/>
              </a:rPr>
              <a:t>und unter welchen Bedingungen sie es nicht tut.</a:t>
            </a:r>
            <a:endParaRPr lang="en-US" sz="1700" dirty="0"/>
          </a:p>
        </p:txBody>
      </p:sp>
      <p:sp>
        <p:nvSpPr>
          <p:cNvPr id="5" name="Text 3"/>
          <p:cNvSpPr txBox="1"/>
          <p:nvPr/>
        </p:nvSpPr>
        <p:spPr>
          <a:xfrm>
            <a:off x="640080" y="5760720"/>
            <a:ext cx="10424160" cy="457200"/>
          </a:xfrm>
          <a:prstGeom prst="rect">
            <a:avLst/>
          </a:prstGeom>
          <a:noFill/>
          <a:ln/>
        </p:spPr>
        <p:txBody>
          <a:bodyPr wrap="square" lIns="0" tIns="0" rIns="0" bIns="0" rtlCol="0" anchor="ctr"/>
          <a:lstStyle/>
          <a:p>
            <a:pPr indent="0" marL="0">
              <a:buNone/>
            </a:pPr>
            <a:r>
              <a:rPr lang="en-US" sz="1200" dirty="0">
                <a:solidFill>
                  <a:srgbClr val="9BA8CC"/>
                </a:solidFill>
                <a:latin typeface="Calibri" pitchFamily="34" charset="0"/>
                <a:ea typeface="Calibri" pitchFamily="34" charset="-122"/>
                <a:cs typeface="Calibri" pitchFamily="34" charset="-120"/>
              </a:rPr>
              <a:t>Prototyp und Evaluation über 270 Dienstpläne · Projektteam · Wintersemester</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640080" y="411480"/>
            <a:ext cx="10908792" cy="64008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Die Aufgabe</a:t>
            </a:r>
            <a:endParaRPr lang="en-US" sz="3200" dirty="0"/>
          </a:p>
        </p:txBody>
      </p:sp>
      <p:sp>
        <p:nvSpPr>
          <p:cNvPr id="3" name="Text 1"/>
          <p:cNvSpPr txBox="1"/>
          <p:nvPr/>
        </p:nvSpPr>
        <p:spPr>
          <a:xfrm>
            <a:off x="640080" y="1078992"/>
            <a:ext cx="10908792" cy="457200"/>
          </a:xfrm>
          <a:prstGeom prst="rect">
            <a:avLst/>
          </a:prstGeom>
          <a:noFill/>
          <a:ln/>
        </p:spPr>
        <p:txBody>
          <a:bodyPr wrap="square" lIns="0" tIns="0" rIns="0" bIns="0" rtlCol="0" anchor="ctr"/>
          <a:lstStyle/>
          <a:p>
            <a:pPr indent="0" marL="0">
              <a:buNone/>
            </a:pPr>
            <a:r>
              <a:rPr lang="en-US" sz="1500" i="1" dirty="0">
                <a:solidFill>
                  <a:srgbClr val="52514E"/>
                </a:solidFill>
                <a:latin typeface="Calibri" pitchFamily="34" charset="0"/>
                <a:ea typeface="Calibri" pitchFamily="34" charset="-122"/>
                <a:cs typeface="Calibri" pitchFamily="34" charset="-120"/>
              </a:rPr>
              <a:t>Dienstpläne in der Pflege entstehen überwiegend manuell in Excel.</a:t>
            </a:r>
            <a:endParaRPr lang="en-US" sz="1500" dirty="0"/>
          </a:p>
        </p:txBody>
      </p:sp>
      <p:sp>
        <p:nvSpPr>
          <p:cNvPr id="4" name="Shape 2"/>
          <p:cNvSpPr/>
          <p:nvPr/>
        </p:nvSpPr>
        <p:spPr>
          <a:xfrm>
            <a:off x="640080" y="1691640"/>
            <a:ext cx="10908792" cy="1371600"/>
          </a:xfrm>
          <a:prstGeom prst="roundRect">
            <a:avLst>
              <a:gd name="adj" fmla="val 5333"/>
            </a:avLst>
          </a:prstGeom>
          <a:solidFill>
            <a:srgbClr val="1E2761"/>
          </a:solidFill>
          <a:ln w="12700">
            <a:solidFill>
              <a:srgbClr val="1E2761"/>
            </a:solidFill>
            <a:prstDash val="solid"/>
          </a:ln>
          <a:effectLst>
            <a:outerShdw sx="100000" sy="100000" kx="0" ky="0" algn="bl" rotWithShape="0" blurRad="76200" dist="12700" dir="5400000">
              <a:srgbClr val="000000">
                <a:alpha val="10000"/>
              </a:srgbClr>
            </a:outerShdw>
          </a:effectLst>
        </p:spPr>
      </p:sp>
      <p:sp>
        <p:nvSpPr>
          <p:cNvPr id="5" name="Text 3"/>
          <p:cNvSpPr txBox="1"/>
          <p:nvPr/>
        </p:nvSpPr>
        <p:spPr>
          <a:xfrm>
            <a:off x="1005840" y="1920240"/>
            <a:ext cx="10177272" cy="914400"/>
          </a:xfrm>
          <a:prstGeom prst="rect">
            <a:avLst/>
          </a:prstGeom>
          <a:noFill/>
          <a:ln/>
        </p:spPr>
        <p:txBody>
          <a:bodyPr wrap="square" lIns="0" tIns="0" rIns="0" bIns="0" rtlCol="0" anchor="ctr"/>
          <a:lstStyle/>
          <a:p>
            <a:pPr indent="0" marL="0">
              <a:lnSpc>
                <a:spcPts val="2700"/>
              </a:lnSpc>
              <a:buNone/>
            </a:pPr>
            <a:r>
              <a:rPr lang="en-US" sz="1900" b="1" dirty="0">
                <a:solidFill>
                  <a:srgbClr val="FFFFFF"/>
                </a:solidFill>
                <a:latin typeface="Cambria" pitchFamily="34" charset="0"/>
                <a:ea typeface="Cambria" pitchFamily="34" charset="-122"/>
                <a:cs typeface="Cambria" pitchFamily="34" charset="-120"/>
              </a:rPr>
              <a:t>Wie kann eine KI-gestützte Planungsempfehlung die Erstellung und kurzfristige Anpassung eines Schichtplans gegenüber einer regelbasierten Excel-Planung unterstützen?</a:t>
            </a:r>
            <a:endParaRPr lang="en-US" sz="1900" dirty="0"/>
          </a:p>
        </p:txBody>
      </p:sp>
      <p:sp>
        <p:nvSpPr>
          <p:cNvPr id="6" name="Shape 4"/>
          <p:cNvSpPr/>
          <p:nvPr/>
        </p:nvSpPr>
        <p:spPr>
          <a:xfrm>
            <a:off x="640080" y="3383280"/>
            <a:ext cx="3520440" cy="1691640"/>
          </a:xfrm>
          <a:prstGeom prst="roundRect">
            <a:avLst>
              <a:gd name="adj" fmla="val 4324"/>
            </a:avLst>
          </a:prstGeom>
          <a:solidFill>
            <a:srgbClr val="EEF4FE"/>
          </a:solidFill>
          <a:ln w="12700">
            <a:solidFill>
              <a:srgbClr val="EEF4FE"/>
            </a:solidFill>
            <a:prstDash val="solid"/>
          </a:ln>
          <a:effectLst>
            <a:outerShdw sx="100000" sy="100000" kx="0" ky="0" algn="bl" rotWithShape="0" blurRad="76200" dist="12700" dir="5400000">
              <a:srgbClr val="000000">
                <a:alpha val="10000"/>
              </a:srgbClr>
            </a:outerShdw>
          </a:effectLst>
        </p:spPr>
      </p:sp>
      <p:sp>
        <p:nvSpPr>
          <p:cNvPr id="7" name="Text 5"/>
          <p:cNvSpPr txBox="1"/>
          <p:nvPr/>
        </p:nvSpPr>
        <p:spPr>
          <a:xfrm>
            <a:off x="868680" y="3584448"/>
            <a:ext cx="3063240" cy="777240"/>
          </a:xfrm>
          <a:prstGeom prst="rect">
            <a:avLst/>
          </a:prstGeom>
          <a:noFill/>
          <a:ln/>
        </p:spPr>
        <p:txBody>
          <a:bodyPr wrap="square" lIns="0" tIns="0" rIns="0" bIns="0" rtlCol="0" anchor="ctr"/>
          <a:lstStyle/>
          <a:p>
            <a:pPr indent="0" marL="0">
              <a:buNone/>
            </a:pPr>
            <a:r>
              <a:rPr lang="en-US" sz="4200" b="1" dirty="0">
                <a:solidFill>
                  <a:srgbClr val="1E2761"/>
                </a:solidFill>
                <a:latin typeface="Cambria" pitchFamily="34" charset="0"/>
                <a:ea typeface="Cambria" pitchFamily="34" charset="-122"/>
                <a:cs typeface="Cambria" pitchFamily="34" charset="-120"/>
              </a:rPr>
              <a:t>66 %</a:t>
            </a:r>
            <a:endParaRPr lang="en-US" sz="4200" dirty="0"/>
          </a:p>
        </p:txBody>
      </p:sp>
      <p:sp>
        <p:nvSpPr>
          <p:cNvPr id="8" name="Text 6"/>
          <p:cNvSpPr txBox="1"/>
          <p:nvPr/>
        </p:nvSpPr>
        <p:spPr>
          <a:xfrm>
            <a:off x="868680" y="4370832"/>
            <a:ext cx="3063240" cy="594360"/>
          </a:xfrm>
          <a:prstGeom prst="rect">
            <a:avLst/>
          </a:prstGeom>
          <a:noFill/>
          <a:ln/>
        </p:spPr>
        <p:txBody>
          <a:bodyPr wrap="square" lIns="0" tIns="0" rIns="0" bIns="0" rtlCol="0" anchor="ctr"/>
          <a:lstStyle/>
          <a:p>
            <a:pPr indent="0" marL="0">
              <a:lnSpc>
                <a:spcPts val="1600"/>
              </a:lnSpc>
              <a:buNone/>
            </a:pPr>
            <a:r>
              <a:rPr lang="en-US" sz="1300" dirty="0">
                <a:solidFill>
                  <a:srgbClr val="52514E"/>
                </a:solidFill>
                <a:latin typeface="Calibri" pitchFamily="34" charset="0"/>
                <a:ea typeface="Calibri" pitchFamily="34" charset="-122"/>
                <a:cs typeface="Calibri" pitchFamily="34" charset="-120"/>
              </a:rPr>
              <a:t>der Krankenhäuser schrieben 2024 Verluste</a:t>
            </a:r>
            <a:endParaRPr lang="en-US" sz="1300" dirty="0"/>
          </a:p>
        </p:txBody>
      </p:sp>
      <p:sp>
        <p:nvSpPr>
          <p:cNvPr id="9" name="Shape 7"/>
          <p:cNvSpPr/>
          <p:nvPr/>
        </p:nvSpPr>
        <p:spPr>
          <a:xfrm>
            <a:off x="4389120" y="3383280"/>
            <a:ext cx="3520440" cy="1691640"/>
          </a:xfrm>
          <a:prstGeom prst="roundRect">
            <a:avLst>
              <a:gd name="adj" fmla="val 4324"/>
            </a:avLst>
          </a:prstGeom>
          <a:solidFill>
            <a:srgbClr val="EEF4FE"/>
          </a:solidFill>
          <a:ln w="12700">
            <a:solidFill>
              <a:srgbClr val="EEF4FE"/>
            </a:solidFill>
            <a:prstDash val="solid"/>
          </a:ln>
          <a:effectLst>
            <a:outerShdw sx="100000" sy="100000" kx="0" ky="0" algn="bl" rotWithShape="0" blurRad="76200" dist="12700" dir="5400000">
              <a:srgbClr val="000000">
                <a:alpha val="10000"/>
              </a:srgbClr>
            </a:outerShdw>
          </a:effectLst>
        </p:spPr>
      </p:sp>
      <p:sp>
        <p:nvSpPr>
          <p:cNvPr id="10" name="Text 8"/>
          <p:cNvSpPr txBox="1"/>
          <p:nvPr/>
        </p:nvSpPr>
        <p:spPr>
          <a:xfrm>
            <a:off x="4617720" y="3584448"/>
            <a:ext cx="3063240" cy="777240"/>
          </a:xfrm>
          <a:prstGeom prst="rect">
            <a:avLst/>
          </a:prstGeom>
          <a:noFill/>
          <a:ln/>
        </p:spPr>
        <p:txBody>
          <a:bodyPr wrap="square" lIns="0" tIns="0" rIns="0" bIns="0" rtlCol="0" anchor="ctr"/>
          <a:lstStyle/>
          <a:p>
            <a:pPr indent="0" marL="0">
              <a:buNone/>
            </a:pPr>
            <a:r>
              <a:rPr lang="en-US" sz="4200" b="1" dirty="0">
                <a:solidFill>
                  <a:srgbClr val="1E2761"/>
                </a:solidFill>
                <a:latin typeface="Cambria" pitchFamily="34" charset="0"/>
                <a:ea typeface="Cambria" pitchFamily="34" charset="-122"/>
                <a:cs typeface="Cambria" pitchFamily="34" charset="-120"/>
              </a:rPr>
              <a:t>15 %</a:t>
            </a:r>
            <a:endParaRPr lang="en-US" sz="4200" dirty="0"/>
          </a:p>
        </p:txBody>
      </p:sp>
      <p:sp>
        <p:nvSpPr>
          <p:cNvPr id="11" name="Text 9"/>
          <p:cNvSpPr txBox="1"/>
          <p:nvPr/>
        </p:nvSpPr>
        <p:spPr>
          <a:xfrm>
            <a:off x="4617720" y="4370832"/>
            <a:ext cx="3063240" cy="594360"/>
          </a:xfrm>
          <a:prstGeom prst="rect">
            <a:avLst/>
          </a:prstGeom>
          <a:noFill/>
          <a:ln/>
        </p:spPr>
        <p:txBody>
          <a:bodyPr wrap="square" lIns="0" tIns="0" rIns="0" bIns="0" rtlCol="0" anchor="ctr"/>
          <a:lstStyle/>
          <a:p>
            <a:pPr indent="0" marL="0">
              <a:lnSpc>
                <a:spcPts val="1600"/>
              </a:lnSpc>
              <a:buNone/>
            </a:pPr>
            <a:r>
              <a:rPr lang="en-US" sz="1300" dirty="0">
                <a:solidFill>
                  <a:srgbClr val="52514E"/>
                </a:solidFill>
                <a:latin typeface="Calibri" pitchFamily="34" charset="0"/>
                <a:ea typeface="Calibri" pitchFamily="34" charset="-122"/>
                <a:cs typeface="Calibri" pitchFamily="34" charset="-120"/>
              </a:rPr>
              <a:t>der Schichten bleiben trotz gesetzlicher</a:t>
            </a:r>
            <a:endParaRPr lang="en-US" sz="1300" dirty="0"/>
          </a:p>
          <a:p>
            <a:pPr indent="0" marL="0">
              <a:lnSpc>
                <a:spcPts val="1600"/>
              </a:lnSpc>
              <a:buNone/>
            </a:pPr>
            <a:r>
              <a:rPr lang="en-US" sz="1300" dirty="0">
                <a:solidFill>
                  <a:srgbClr val="52514E"/>
                </a:solidFill>
                <a:latin typeface="Calibri" pitchFamily="34" charset="0"/>
                <a:ea typeface="Calibri" pitchFamily="34" charset="-122"/>
                <a:cs typeface="Calibri" pitchFamily="34" charset="-120"/>
              </a:rPr>
              <a:t>Untergrenzen unterbesetzt</a:t>
            </a:r>
            <a:endParaRPr lang="en-US" sz="1300" dirty="0"/>
          </a:p>
        </p:txBody>
      </p:sp>
      <p:sp>
        <p:nvSpPr>
          <p:cNvPr id="12" name="Shape 10"/>
          <p:cNvSpPr/>
          <p:nvPr/>
        </p:nvSpPr>
        <p:spPr>
          <a:xfrm>
            <a:off x="8138160" y="3383280"/>
            <a:ext cx="3410712" cy="1691640"/>
          </a:xfrm>
          <a:prstGeom prst="roundRect">
            <a:avLst>
              <a:gd name="adj" fmla="val 4324"/>
            </a:avLst>
          </a:prstGeom>
          <a:solidFill>
            <a:srgbClr val="EEF4FE"/>
          </a:solidFill>
          <a:ln w="12700">
            <a:solidFill>
              <a:srgbClr val="EEF4FE"/>
            </a:solidFill>
            <a:prstDash val="solid"/>
          </a:ln>
          <a:effectLst>
            <a:outerShdw sx="100000" sy="100000" kx="0" ky="0" algn="bl" rotWithShape="0" blurRad="76200" dist="12700" dir="5400000">
              <a:srgbClr val="000000">
                <a:alpha val="10000"/>
              </a:srgbClr>
            </a:outerShdw>
          </a:effectLst>
        </p:spPr>
      </p:sp>
      <p:sp>
        <p:nvSpPr>
          <p:cNvPr id="13" name="Text 11"/>
          <p:cNvSpPr txBox="1"/>
          <p:nvPr/>
        </p:nvSpPr>
        <p:spPr>
          <a:xfrm>
            <a:off x="8366760" y="3584448"/>
            <a:ext cx="2953512" cy="777240"/>
          </a:xfrm>
          <a:prstGeom prst="rect">
            <a:avLst/>
          </a:prstGeom>
          <a:noFill/>
          <a:ln/>
        </p:spPr>
        <p:txBody>
          <a:bodyPr wrap="square" lIns="0" tIns="0" rIns="0" bIns="0" rtlCol="0" anchor="ctr"/>
          <a:lstStyle/>
          <a:p>
            <a:pPr indent="0" marL="0">
              <a:buNone/>
            </a:pPr>
            <a:r>
              <a:rPr lang="en-US" sz="4200" b="1" dirty="0">
                <a:solidFill>
                  <a:srgbClr val="EB6834"/>
                </a:solidFill>
                <a:latin typeface="Cambria" pitchFamily="34" charset="0"/>
                <a:ea typeface="Cambria" pitchFamily="34" charset="-122"/>
                <a:cs typeface="Cambria" pitchFamily="34" charset="-120"/>
              </a:rPr>
              <a:t>§ 137i</a:t>
            </a:r>
            <a:endParaRPr lang="en-US" sz="4200" dirty="0"/>
          </a:p>
        </p:txBody>
      </p:sp>
      <p:sp>
        <p:nvSpPr>
          <p:cNvPr id="14" name="Text 12"/>
          <p:cNvSpPr txBox="1"/>
          <p:nvPr/>
        </p:nvSpPr>
        <p:spPr>
          <a:xfrm>
            <a:off x="8366760" y="4370832"/>
            <a:ext cx="2953512" cy="594360"/>
          </a:xfrm>
          <a:prstGeom prst="rect">
            <a:avLst/>
          </a:prstGeom>
          <a:noFill/>
          <a:ln/>
        </p:spPr>
        <p:txBody>
          <a:bodyPr wrap="square" lIns="0" tIns="0" rIns="0" bIns="0" rtlCol="0" anchor="ctr"/>
          <a:lstStyle/>
          <a:p>
            <a:pPr indent="0" marL="0">
              <a:lnSpc>
                <a:spcPts val="1600"/>
              </a:lnSpc>
              <a:buNone/>
            </a:pPr>
            <a:r>
              <a:rPr lang="en-US" sz="1300" dirty="0">
                <a:solidFill>
                  <a:srgbClr val="52514E"/>
                </a:solidFill>
                <a:latin typeface="Calibri" pitchFamily="34" charset="0"/>
                <a:ea typeface="Calibri" pitchFamily="34" charset="-122"/>
                <a:cs typeface="Calibri" pitchFamily="34" charset="-120"/>
              </a:rPr>
              <a:t>SGB V: Unterschreitung führt zu</a:t>
            </a:r>
            <a:endParaRPr lang="en-US" sz="1300" dirty="0"/>
          </a:p>
          <a:p>
            <a:pPr indent="0" marL="0">
              <a:lnSpc>
                <a:spcPts val="1600"/>
              </a:lnSpc>
              <a:buNone/>
            </a:pPr>
            <a:r>
              <a:rPr lang="en-US" sz="1300" dirty="0">
                <a:solidFill>
                  <a:srgbClr val="52514E"/>
                </a:solidFill>
                <a:latin typeface="Calibri" pitchFamily="34" charset="0"/>
                <a:ea typeface="Calibri" pitchFamily="34" charset="-122"/>
                <a:cs typeface="Calibri" pitchFamily="34" charset="-120"/>
              </a:rPr>
              <a:t>Vergütungsabschlägen</a:t>
            </a:r>
            <a:endParaRPr lang="en-US" sz="1300" dirty="0"/>
          </a:p>
        </p:txBody>
      </p:sp>
      <p:sp>
        <p:nvSpPr>
          <p:cNvPr id="15" name="Text 13"/>
          <p:cNvSpPr txBox="1"/>
          <p:nvPr/>
        </p:nvSpPr>
        <p:spPr>
          <a:xfrm>
            <a:off x="640080" y="5257800"/>
            <a:ext cx="10908792" cy="731520"/>
          </a:xfrm>
          <a:prstGeom prst="rect">
            <a:avLst/>
          </a:prstGeom>
          <a:noFill/>
          <a:ln/>
        </p:spPr>
        <p:txBody>
          <a:bodyPr wrap="square" lIns="0" tIns="0" rIns="0" bIns="0" rtlCol="0" anchor="ctr"/>
          <a:lstStyle/>
          <a:p>
            <a:pPr indent="0" marL="0">
              <a:lnSpc>
                <a:spcPts val="2200"/>
              </a:lnSpc>
              <a:buNone/>
            </a:pPr>
            <a:r>
              <a:rPr lang="en-US" sz="1500" dirty="0">
                <a:solidFill>
                  <a:srgbClr val="0B0B0B"/>
                </a:solidFill>
                <a:latin typeface="Calibri" pitchFamily="34" charset="0"/>
                <a:ea typeface="Calibri" pitchFamily="34" charset="-122"/>
                <a:cs typeface="Calibri" pitchFamily="34" charset="-120"/>
              </a:rPr>
              <a:t>Ein Dienstplan muss gleichzeitig Arbeitszeitrecht, gesetzliche Mindestbesetzung, Qualifikationen und wechselnden Personalbedarf einhalten — und bei jedem kurzfristigen Ausfall neu justiert werden.</a:t>
            </a:r>
            <a:endParaRPr lang="en-US" sz="1500" dirty="0"/>
          </a:p>
        </p:txBody>
      </p:sp>
      <p:sp>
        <p:nvSpPr>
          <p:cNvPr id="16" name="Text 14"/>
          <p:cNvSpPr txBox="1"/>
          <p:nvPr/>
        </p:nvSpPr>
        <p:spPr>
          <a:xfrm>
            <a:off x="640080" y="6327648"/>
            <a:ext cx="10908792" cy="320040"/>
          </a:xfrm>
          <a:prstGeom prst="rect">
            <a:avLst/>
          </a:prstGeom>
          <a:noFill/>
          <a:ln/>
        </p:spPr>
        <p:txBody>
          <a:bodyPr wrap="square" lIns="0" tIns="0" rIns="0" bIns="0" rtlCol="0" anchor="ctr"/>
          <a:lstStyle/>
          <a:p>
            <a:pPr indent="0" marL="0">
              <a:buNone/>
            </a:pPr>
            <a:r>
              <a:rPr lang="en-US" sz="1000" dirty="0">
                <a:solidFill>
                  <a:srgbClr val="898781"/>
                </a:solidFill>
                <a:latin typeface="Calibri" pitchFamily="34" charset="0"/>
                <a:ea typeface="Calibri" pitchFamily="34" charset="-122"/>
                <a:cs typeface="Calibri" pitchFamily="34" charset="-120"/>
              </a:rPr>
              <a:t>DKI Krankenhaus Barometer 2025 · Wissenschaftliche Dienste des Bundestages, WD 8-3000-008/26</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640080" y="411480"/>
            <a:ext cx="10908792" cy="64008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Herangehensweise</a:t>
            </a:r>
            <a:endParaRPr lang="en-US" sz="3200" dirty="0"/>
          </a:p>
        </p:txBody>
      </p:sp>
      <p:sp>
        <p:nvSpPr>
          <p:cNvPr id="3" name="Text 1"/>
          <p:cNvSpPr txBox="1"/>
          <p:nvPr/>
        </p:nvSpPr>
        <p:spPr>
          <a:xfrm>
            <a:off x="640080" y="1078992"/>
            <a:ext cx="10908792" cy="457200"/>
          </a:xfrm>
          <a:prstGeom prst="rect">
            <a:avLst/>
          </a:prstGeom>
          <a:noFill/>
          <a:ln/>
        </p:spPr>
        <p:txBody>
          <a:bodyPr wrap="square" lIns="0" tIns="0" rIns="0" bIns="0" rtlCol="0" anchor="ctr"/>
          <a:lstStyle/>
          <a:p>
            <a:pPr indent="0" marL="0">
              <a:buNone/>
            </a:pPr>
            <a:r>
              <a:rPr lang="en-US" sz="1500" i="1" dirty="0">
                <a:solidFill>
                  <a:srgbClr val="52514E"/>
                </a:solidFill>
                <a:latin typeface="Calibri" pitchFamily="34" charset="0"/>
                <a:ea typeface="Calibri" pitchFamily="34" charset="-122"/>
                <a:cs typeface="Calibri" pitchFamily="34" charset="-120"/>
              </a:rPr>
              <a:t>Erst die Methode begründen, dann die Datengrundlage bauen — nicht umgekehrt.</a:t>
            </a:r>
            <a:endParaRPr lang="en-US" sz="1500" dirty="0"/>
          </a:p>
        </p:txBody>
      </p:sp>
      <p:sp>
        <p:nvSpPr>
          <p:cNvPr id="4" name="Shape 2"/>
          <p:cNvSpPr/>
          <p:nvPr/>
        </p:nvSpPr>
        <p:spPr>
          <a:xfrm>
            <a:off x="640080" y="1691640"/>
            <a:ext cx="5349240" cy="4206240"/>
          </a:xfrm>
          <a:prstGeom prst="roundRect">
            <a:avLst>
              <a:gd name="adj" fmla="val 1739"/>
            </a:avLst>
          </a:prstGeom>
          <a:solidFill>
            <a:srgbClr val="F7EEEA"/>
          </a:solidFill>
          <a:ln w="12700">
            <a:solidFill>
              <a:srgbClr val="F7EEEA"/>
            </a:solidFill>
            <a:prstDash val="solid"/>
          </a:ln>
          <a:effectLst>
            <a:outerShdw sx="100000" sy="100000" kx="0" ky="0" algn="bl" rotWithShape="0" blurRad="76200" dist="12700" dir="5400000">
              <a:srgbClr val="000000">
                <a:alpha val="10000"/>
              </a:srgbClr>
            </a:outerShdw>
          </a:effectLst>
        </p:spPr>
      </p:sp>
      <p:sp>
        <p:nvSpPr>
          <p:cNvPr id="5" name="Text 3"/>
          <p:cNvSpPr txBox="1"/>
          <p:nvPr/>
        </p:nvSpPr>
        <p:spPr>
          <a:xfrm>
            <a:off x="960120" y="1920240"/>
            <a:ext cx="4709160" cy="365760"/>
          </a:xfrm>
          <a:prstGeom prst="rect">
            <a:avLst/>
          </a:prstGeom>
          <a:noFill/>
          <a:ln/>
        </p:spPr>
        <p:txBody>
          <a:bodyPr wrap="square" lIns="0" tIns="0" rIns="0" bIns="0" rtlCol="0" anchor="ctr"/>
          <a:lstStyle/>
          <a:p>
            <a:pPr indent="0" marL="0">
              <a:buNone/>
            </a:pPr>
            <a:r>
              <a:rPr lang="en-US" sz="1700" b="1" dirty="0">
                <a:solidFill>
                  <a:srgbClr val="EB6834"/>
                </a:solidFill>
                <a:latin typeface="Calibri" pitchFamily="34" charset="0"/>
                <a:ea typeface="Calibri" pitchFamily="34" charset="-122"/>
                <a:cs typeface="Calibri" pitchFamily="34" charset="-120"/>
              </a:rPr>
              <a:t>Methodenwahl: kein Machine Learning</a:t>
            </a:r>
            <a:endParaRPr lang="en-US" sz="1700" dirty="0"/>
          </a:p>
        </p:txBody>
      </p:sp>
      <p:sp>
        <p:nvSpPr>
          <p:cNvPr id="6" name="Text 4"/>
          <p:cNvSpPr txBox="1"/>
          <p:nvPr/>
        </p:nvSpPr>
        <p:spPr>
          <a:xfrm>
            <a:off x="960120" y="2377440"/>
            <a:ext cx="4709160" cy="3291840"/>
          </a:xfrm>
          <a:prstGeom prst="rect">
            <a:avLst/>
          </a:prstGeom>
          <a:noFill/>
          <a:ln/>
        </p:spPr>
        <p:txBody>
          <a:bodyPr wrap="square" lIns="0" tIns="0" rIns="0" bIns="0" rtlCol="0" anchor="ctr"/>
          <a:lstStyle/>
          <a:p>
            <a:pPr marL="342900" indent="-342900">
              <a:lnSpc>
                <a:spcPts val="1900"/>
              </a:lnSpc>
              <a:spcAft>
                <a:spcPts val="900"/>
              </a:spcAft>
              <a:buSzPct val="100000"/>
              <a:buChar char="•"/>
            </a:pPr>
            <a:r>
              <a:rPr lang="en-US" sz="1300" dirty="0">
                <a:solidFill>
                  <a:srgbClr val="52514E"/>
                </a:solidFill>
                <a:latin typeface="Calibri" pitchFamily="34" charset="0"/>
                <a:ea typeface="Calibri" pitchFamily="34" charset="-122"/>
                <a:cs typeface="Calibri" pitchFamily="34" charset="-120"/>
              </a:rPr>
              <a:t>Keine zu lernende Zielvariable, keine historischen Planentscheidungen als Trainingsdaten</a:t>
            </a:r>
            <a:endParaRPr lang="en-US" sz="1300" dirty="0"/>
          </a:p>
          <a:p>
            <a:pPr marL="342900" indent="-342900">
              <a:lnSpc>
                <a:spcPts val="1900"/>
              </a:lnSpc>
              <a:spcAft>
                <a:spcPts val="900"/>
              </a:spcAft>
              <a:buSzPct val="100000"/>
              <a:buChar char="•"/>
            </a:pPr>
            <a:r>
              <a:rPr lang="en-US" sz="1300" dirty="0">
                <a:solidFill>
                  <a:srgbClr val="52514E"/>
                </a:solidFill>
                <a:latin typeface="Calibri" pitchFamily="34" charset="0"/>
                <a:ea typeface="Calibri" pitchFamily="34" charset="-122"/>
                <a:cs typeface="Calibri" pitchFamily="34" charset="-120"/>
              </a:rPr>
              <a:t>Das Problem ist eine Zuordnung unter harten Nebenbedingungen mit konkurrierenden Zielen</a:t>
            </a:r>
            <a:endParaRPr lang="en-US" sz="1300" dirty="0"/>
          </a:p>
          <a:p>
            <a:pPr marL="342900" indent="-342900">
              <a:lnSpc>
                <a:spcPts val="1900"/>
              </a:lnSpc>
              <a:spcAft>
                <a:spcPts val="900"/>
              </a:spcAft>
              <a:buSzPct val="100000"/>
              <a:buChar char="•"/>
            </a:pPr>
            <a:r>
              <a:rPr lang="en-US" sz="1300" dirty="0">
                <a:solidFill>
                  <a:srgbClr val="52514E"/>
                </a:solidFill>
                <a:latin typeface="Calibri" pitchFamily="34" charset="0"/>
                <a:ea typeface="Calibri" pitchFamily="34" charset="-122"/>
                <a:cs typeface="Calibri" pitchFamily="34" charset="-120"/>
              </a:rPr>
              <a:t>Einschlägig sind mathematische Optimierung und Constraint Programming</a:t>
            </a:r>
            <a:endParaRPr lang="en-US" sz="1300" dirty="0"/>
          </a:p>
          <a:p>
            <a:pPr marL="342900" indent="-342900">
              <a:lnSpc>
                <a:spcPts val="1900"/>
              </a:lnSpc>
              <a:spcAft>
                <a:spcPts val="900"/>
              </a:spcAft>
              <a:buSzPct val="100000"/>
              <a:buChar char="•"/>
            </a:pPr>
            <a:r>
              <a:rPr lang="en-US" sz="1300" dirty="0">
                <a:solidFill>
                  <a:srgbClr val="52514E"/>
                </a:solidFill>
                <a:latin typeface="Calibri" pitchFamily="34" charset="0"/>
                <a:ea typeface="Calibri" pitchFamily="34" charset="-122"/>
                <a:cs typeface="Calibri" pitchFamily="34" charset="-120"/>
              </a:rPr>
              <a:t>Umgesetzt als MILP mit 2.429 Variablen und 4.232 Nebenbedingungen, gelöst mit dem freien Solver HiGHS</a:t>
            </a:r>
            <a:endParaRPr lang="en-US" sz="1300" dirty="0"/>
          </a:p>
        </p:txBody>
      </p:sp>
      <p:sp>
        <p:nvSpPr>
          <p:cNvPr id="7" name="Shape 5"/>
          <p:cNvSpPr/>
          <p:nvPr/>
        </p:nvSpPr>
        <p:spPr>
          <a:xfrm>
            <a:off x="6309360" y="1691640"/>
            <a:ext cx="5239512" cy="4206240"/>
          </a:xfrm>
          <a:prstGeom prst="roundRect">
            <a:avLst>
              <a:gd name="adj" fmla="val 1739"/>
            </a:avLst>
          </a:prstGeom>
          <a:solidFill>
            <a:srgbClr val="EEF4FE"/>
          </a:solidFill>
          <a:ln w="12700">
            <a:solidFill>
              <a:srgbClr val="EEF4FE"/>
            </a:solidFill>
            <a:prstDash val="solid"/>
          </a:ln>
          <a:effectLst>
            <a:outerShdw sx="100000" sy="100000" kx="0" ky="0" algn="bl" rotWithShape="0" blurRad="76200" dist="12700" dir="5400000">
              <a:srgbClr val="000000">
                <a:alpha val="10000"/>
              </a:srgbClr>
            </a:outerShdw>
          </a:effectLst>
        </p:spPr>
      </p:sp>
      <p:sp>
        <p:nvSpPr>
          <p:cNvPr id="8" name="Text 6"/>
          <p:cNvSpPr txBox="1"/>
          <p:nvPr/>
        </p:nvSpPr>
        <p:spPr>
          <a:xfrm>
            <a:off x="6629400" y="1920240"/>
            <a:ext cx="4599432" cy="365760"/>
          </a:xfrm>
          <a:prstGeom prst="rect">
            <a:avLst/>
          </a:prstGeom>
          <a:noFill/>
          <a:ln/>
        </p:spPr>
        <p:txBody>
          <a:bodyPr wrap="square" lIns="0" tIns="0" rIns="0" bIns="0" rtlCol="0" anchor="ctr"/>
          <a:lstStyle/>
          <a:p>
            <a:pPr indent="0" marL="0">
              <a:buNone/>
            </a:pPr>
            <a:r>
              <a:rPr lang="en-US" sz="1700" b="1" dirty="0">
                <a:solidFill>
                  <a:srgbClr val="1E2761"/>
                </a:solidFill>
                <a:latin typeface="Calibri" pitchFamily="34" charset="0"/>
                <a:ea typeface="Calibri" pitchFamily="34" charset="-122"/>
                <a:cs typeface="Calibri" pitchFamily="34" charset="-120"/>
              </a:rPr>
              <a:t>Datengrundlage: synthetisch, aber hergeleitet</a:t>
            </a:r>
            <a:endParaRPr lang="en-US" sz="1700" dirty="0"/>
          </a:p>
        </p:txBody>
      </p:sp>
      <p:sp>
        <p:nvSpPr>
          <p:cNvPr id="9" name="Text 7"/>
          <p:cNvSpPr txBox="1"/>
          <p:nvPr/>
        </p:nvSpPr>
        <p:spPr>
          <a:xfrm>
            <a:off x="6629400" y="2377440"/>
            <a:ext cx="4599432" cy="3291840"/>
          </a:xfrm>
          <a:prstGeom prst="rect">
            <a:avLst/>
          </a:prstGeom>
          <a:noFill/>
          <a:ln/>
        </p:spPr>
        <p:txBody>
          <a:bodyPr wrap="square" lIns="0" tIns="0" rIns="0" bIns="0" rtlCol="0" anchor="ctr"/>
          <a:lstStyle/>
          <a:p>
            <a:pPr marL="342900" indent="-342900">
              <a:lnSpc>
                <a:spcPts val="1900"/>
              </a:lnSpc>
              <a:spcAft>
                <a:spcPts val="900"/>
              </a:spcAft>
              <a:buSzPct val="100000"/>
              <a:buChar char="•"/>
            </a:pPr>
            <a:r>
              <a:rPr lang="en-US" sz="1300" dirty="0">
                <a:solidFill>
                  <a:srgbClr val="52514E"/>
                </a:solidFill>
                <a:latin typeface="Calibri" pitchFamily="34" charset="0"/>
                <a:ea typeface="Calibri" pitchFamily="34" charset="-122"/>
                <a:cs typeface="Calibri" pitchFamily="34" charset="-120"/>
              </a:rPr>
              <a:t>Struktur aus den Rostering-Benchmarks (INRC-II, Nottingham)</a:t>
            </a:r>
            <a:endParaRPr lang="en-US" sz="1300" dirty="0"/>
          </a:p>
          <a:p>
            <a:pPr marL="342900" indent="-342900">
              <a:lnSpc>
                <a:spcPts val="1900"/>
              </a:lnSpc>
              <a:spcAft>
                <a:spcPts val="900"/>
              </a:spcAft>
              <a:buSzPct val="100000"/>
              <a:buChar char="•"/>
            </a:pPr>
            <a:r>
              <a:rPr lang="en-US" sz="1300" dirty="0">
                <a:solidFill>
                  <a:srgbClr val="52514E"/>
                </a:solidFill>
                <a:latin typeface="Calibri" pitchFamily="34" charset="0"/>
                <a:ea typeface="Calibri" pitchFamily="34" charset="-122"/>
                <a:cs typeface="Calibri" pitchFamily="34" charset="-120"/>
              </a:rPr>
              <a:t>Werte aus deutschem Recht und amtlicher Statistik: ArbZG, PpUGV, TVöD-K, Destatis, PPR 2.0</a:t>
            </a:r>
            <a:endParaRPr lang="en-US" sz="1300" dirty="0"/>
          </a:p>
          <a:p>
            <a:pPr marL="342900" indent="-342900">
              <a:lnSpc>
                <a:spcPts val="1900"/>
              </a:lnSpc>
              <a:spcAft>
                <a:spcPts val="900"/>
              </a:spcAft>
              <a:buSzPct val="100000"/>
              <a:buChar char="•"/>
            </a:pPr>
            <a:r>
              <a:rPr lang="en-US" sz="1300" dirty="0">
                <a:solidFill>
                  <a:srgbClr val="52514E"/>
                </a:solidFill>
                <a:latin typeface="Calibri" pitchFamily="34" charset="0"/>
                <a:ea typeface="Calibri" pitchFamily="34" charset="-122"/>
                <a:cs typeface="Calibri" pitchFamily="34" charset="-120"/>
              </a:rPr>
              <a:t>Belegschaftsgröße gerechnet, nicht geraten — über Pflegeaufwand und Bruttobedarf</a:t>
            </a:r>
            <a:endParaRPr lang="en-US" sz="1300" dirty="0"/>
          </a:p>
          <a:p>
            <a:pPr marL="342900" indent="-342900">
              <a:lnSpc>
                <a:spcPts val="1900"/>
              </a:lnSpc>
              <a:spcAft>
                <a:spcPts val="900"/>
              </a:spcAft>
              <a:buSzPct val="100000"/>
              <a:buChar char="•"/>
            </a:pPr>
            <a:r>
              <a:rPr lang="en-US" sz="1300" dirty="0">
                <a:solidFill>
                  <a:srgbClr val="52514E"/>
                </a:solidFill>
                <a:latin typeface="Calibri" pitchFamily="34" charset="0"/>
                <a:ea typeface="Calibri" pitchFamily="34" charset="-122"/>
                <a:cs typeface="Calibri" pitchFamily="34" charset="-120"/>
              </a:rPr>
              <a:t>Keine personenbezogenen Daten, keine Gesundheitsdaten — Ausfälle sind reine Verfügbarkeitsereignisse</a:t>
            </a:r>
            <a:endParaRPr lang="en-US" sz="1300" dirty="0"/>
          </a:p>
        </p:txBody>
      </p:sp>
      <p:sp>
        <p:nvSpPr>
          <p:cNvPr id="10" name="Text 8"/>
          <p:cNvSpPr txBox="1"/>
          <p:nvPr/>
        </p:nvSpPr>
        <p:spPr>
          <a:xfrm>
            <a:off x="640080" y="6327648"/>
            <a:ext cx="10908792" cy="320040"/>
          </a:xfrm>
          <a:prstGeom prst="rect">
            <a:avLst/>
          </a:prstGeom>
          <a:noFill/>
          <a:ln/>
        </p:spPr>
        <p:txBody>
          <a:bodyPr wrap="square" lIns="0" tIns="0" rIns="0" bIns="0" rtlCol="0" anchor="ctr"/>
          <a:lstStyle/>
          <a:p>
            <a:pPr indent="0" marL="0">
              <a:buNone/>
            </a:pPr>
            <a:r>
              <a:rPr lang="en-US" sz="1000" dirty="0">
                <a:solidFill>
                  <a:srgbClr val="898781"/>
                </a:solidFill>
                <a:latin typeface="Calibri" pitchFamily="34" charset="0"/>
                <a:ea typeface="Calibri" pitchFamily="34" charset="-122"/>
                <a:cs typeface="Calibri" pitchFamily="34" charset="-120"/>
              </a:rPr>
              <a:t>Vorgehen an CRISP-DM orientiert · Burke et al. (2004), Journal of Scheduling · Van den Bergh et al. (2013), EJOR</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640080" y="411480"/>
            <a:ext cx="10908792" cy="64008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Umsetzung</a:t>
            </a:r>
            <a:endParaRPr lang="en-US" sz="3200" dirty="0"/>
          </a:p>
        </p:txBody>
      </p:sp>
      <p:sp>
        <p:nvSpPr>
          <p:cNvPr id="3" name="Text 1"/>
          <p:cNvSpPr txBox="1"/>
          <p:nvPr/>
        </p:nvSpPr>
        <p:spPr>
          <a:xfrm>
            <a:off x="640080" y="1078992"/>
            <a:ext cx="10908792" cy="457200"/>
          </a:xfrm>
          <a:prstGeom prst="rect">
            <a:avLst/>
          </a:prstGeom>
          <a:noFill/>
          <a:ln/>
        </p:spPr>
        <p:txBody>
          <a:bodyPr wrap="square" lIns="0" tIns="0" rIns="0" bIns="0" rtlCol="0" anchor="ctr"/>
          <a:lstStyle/>
          <a:p>
            <a:pPr indent="0" marL="0">
              <a:buNone/>
            </a:pPr>
            <a:r>
              <a:rPr lang="en-US" sz="1500" i="1" dirty="0">
                <a:solidFill>
                  <a:srgbClr val="52514E"/>
                </a:solidFill>
                <a:latin typeface="Calibri" pitchFamily="34" charset="0"/>
                <a:ea typeface="Calibri" pitchFamily="34" charset="-122"/>
                <a:cs typeface="Calibri" pitchFamily="34" charset="-120"/>
              </a:rPr>
              <a:t>Ein Datensatz, zwei Verfahren, eine unabhängige Prüfung.</a:t>
            </a:r>
            <a:endParaRPr lang="en-US" sz="1500" dirty="0"/>
          </a:p>
        </p:txBody>
      </p:sp>
      <p:sp>
        <p:nvSpPr>
          <p:cNvPr id="4" name="Shape 2"/>
          <p:cNvSpPr/>
          <p:nvPr/>
        </p:nvSpPr>
        <p:spPr>
          <a:xfrm>
            <a:off x="640080" y="1837944"/>
            <a:ext cx="237744" cy="237744"/>
          </a:xfrm>
          <a:prstGeom prst="ellipse">
            <a:avLst/>
          </a:prstGeom>
          <a:solidFill>
            <a:srgbClr val="1E2761"/>
          </a:solidFill>
          <a:ln w="12700">
            <a:solidFill>
              <a:srgbClr val="333333"/>
            </a:solidFill>
            <a:prstDash val="solid"/>
          </a:ln>
        </p:spPr>
      </p:sp>
      <p:sp>
        <p:nvSpPr>
          <p:cNvPr id="5" name="Text 3"/>
          <p:cNvSpPr txBox="1"/>
          <p:nvPr/>
        </p:nvSpPr>
        <p:spPr>
          <a:xfrm>
            <a:off x="1051560" y="1783080"/>
            <a:ext cx="5623560" cy="292608"/>
          </a:xfrm>
          <a:prstGeom prst="rect">
            <a:avLst/>
          </a:prstGeom>
          <a:noFill/>
          <a:ln/>
        </p:spPr>
        <p:txBody>
          <a:bodyPr wrap="square" lIns="0" tIns="0" rIns="0" bIns="0" rtlCol="0" anchor="ctr"/>
          <a:lstStyle/>
          <a:p>
            <a:pPr indent="0" marL="0">
              <a:buNone/>
            </a:pPr>
            <a:r>
              <a:rPr lang="en-US" sz="1500" b="1" dirty="0">
                <a:solidFill>
                  <a:srgbClr val="0B0B0B"/>
                </a:solidFill>
                <a:latin typeface="Calibri" pitchFamily="34" charset="0"/>
                <a:ea typeface="Calibri" pitchFamily="34" charset="-122"/>
                <a:cs typeface="Calibri" pitchFamily="34" charset="-120"/>
              </a:rPr>
              <a:t>Eine Datei als Datengrundlage</a:t>
            </a:r>
            <a:endParaRPr lang="en-US" sz="1500" dirty="0"/>
          </a:p>
        </p:txBody>
      </p:sp>
      <p:sp>
        <p:nvSpPr>
          <p:cNvPr id="6" name="Text 4"/>
          <p:cNvSpPr txBox="1"/>
          <p:nvPr/>
        </p:nvSpPr>
        <p:spPr>
          <a:xfrm>
            <a:off x="1051560" y="2075688"/>
            <a:ext cx="5623560" cy="457200"/>
          </a:xfrm>
          <a:prstGeom prst="rect">
            <a:avLst/>
          </a:prstGeom>
          <a:noFill/>
          <a:ln/>
        </p:spPr>
        <p:txBody>
          <a:bodyPr wrap="square" lIns="0" tIns="0" rIns="0" bIns="0" rtlCol="0" anchor="ctr"/>
          <a:lstStyle/>
          <a:p>
            <a:pPr indent="0" marL="0">
              <a:lnSpc>
                <a:spcPts val="1700"/>
              </a:lnSpc>
              <a:buNone/>
            </a:pPr>
            <a:r>
              <a:rPr lang="en-US" sz="1300" dirty="0">
                <a:solidFill>
                  <a:srgbClr val="52514E"/>
                </a:solidFill>
                <a:latin typeface="Calibri" pitchFamily="34" charset="0"/>
                <a:ea typeface="Calibri" pitchFamily="34" charset="-122"/>
                <a:cs typeface="Calibri" pitchFamily="34" charset="-120"/>
              </a:rPr>
              <a:t>1.288 Zeilen × 94 Spalten, Korn Mitarbeitender × Tag. Alle Grenzwerte stehen als Spalten im Datensatz — ändert sich die Rechtslage, ändert sich eine Zahl, nicht das Programm.</a:t>
            </a:r>
            <a:endParaRPr lang="en-US" sz="1300" dirty="0"/>
          </a:p>
        </p:txBody>
      </p:sp>
      <p:sp>
        <p:nvSpPr>
          <p:cNvPr id="7" name="Shape 5"/>
          <p:cNvSpPr/>
          <p:nvPr/>
        </p:nvSpPr>
        <p:spPr>
          <a:xfrm>
            <a:off x="640080" y="3163824"/>
            <a:ext cx="237744" cy="237744"/>
          </a:xfrm>
          <a:prstGeom prst="ellipse">
            <a:avLst/>
          </a:prstGeom>
          <a:solidFill>
            <a:srgbClr val="EB6834"/>
          </a:solidFill>
          <a:ln w="12700">
            <a:solidFill>
              <a:srgbClr val="333333"/>
            </a:solidFill>
            <a:prstDash val="solid"/>
          </a:ln>
        </p:spPr>
      </p:sp>
      <p:sp>
        <p:nvSpPr>
          <p:cNvPr id="8" name="Text 6"/>
          <p:cNvSpPr txBox="1"/>
          <p:nvPr/>
        </p:nvSpPr>
        <p:spPr>
          <a:xfrm>
            <a:off x="1051560" y="3108960"/>
            <a:ext cx="5623560" cy="292608"/>
          </a:xfrm>
          <a:prstGeom prst="rect">
            <a:avLst/>
          </a:prstGeom>
          <a:noFill/>
          <a:ln/>
        </p:spPr>
        <p:txBody>
          <a:bodyPr wrap="square" lIns="0" tIns="0" rIns="0" bIns="0" rtlCol="0" anchor="ctr"/>
          <a:lstStyle/>
          <a:p>
            <a:pPr indent="0" marL="0">
              <a:buNone/>
            </a:pPr>
            <a:r>
              <a:rPr lang="en-US" sz="1500" b="1" dirty="0">
                <a:solidFill>
                  <a:srgbClr val="0B0B0B"/>
                </a:solidFill>
                <a:latin typeface="Calibri" pitchFamily="34" charset="0"/>
                <a:ea typeface="Calibri" pitchFamily="34" charset="-122"/>
                <a:cs typeface="Calibri" pitchFamily="34" charset="-120"/>
              </a:rPr>
              <a:t>Zwei Verfahren auf identischen Daten</a:t>
            </a:r>
            <a:endParaRPr lang="en-US" sz="1500" dirty="0"/>
          </a:p>
        </p:txBody>
      </p:sp>
      <p:sp>
        <p:nvSpPr>
          <p:cNvPr id="9" name="Text 7"/>
          <p:cNvSpPr txBox="1"/>
          <p:nvPr/>
        </p:nvSpPr>
        <p:spPr>
          <a:xfrm>
            <a:off x="1051560" y="3401568"/>
            <a:ext cx="5623560" cy="457200"/>
          </a:xfrm>
          <a:prstGeom prst="rect">
            <a:avLst/>
          </a:prstGeom>
          <a:noFill/>
          <a:ln/>
        </p:spPr>
        <p:txBody>
          <a:bodyPr wrap="square" lIns="0" tIns="0" rIns="0" bIns="0" rtlCol="0" anchor="ctr"/>
          <a:lstStyle/>
          <a:p>
            <a:pPr indent="0" marL="0">
              <a:lnSpc>
                <a:spcPts val="1700"/>
              </a:lnSpc>
              <a:buNone/>
            </a:pPr>
            <a:r>
              <a:rPr lang="en-US" sz="1300" dirty="0">
                <a:solidFill>
                  <a:srgbClr val="52514E"/>
                </a:solidFill>
                <a:latin typeface="Calibri" pitchFamily="34" charset="0"/>
                <a:ea typeface="Calibri" pitchFamily="34" charset="-122"/>
                <a:cs typeface="Calibri" pitchFamily="34" charset="-120"/>
              </a:rPr>
              <a:t>Regelbasierte Heuristik als Excel-Äquivalent: Tag für Tag, nie zurücknehmen. MILP-Optimierung: alle 28 Tage gleichzeitig.</a:t>
            </a:r>
            <a:endParaRPr lang="en-US" sz="1300" dirty="0"/>
          </a:p>
        </p:txBody>
      </p:sp>
      <p:sp>
        <p:nvSpPr>
          <p:cNvPr id="10" name="Shape 8"/>
          <p:cNvSpPr/>
          <p:nvPr/>
        </p:nvSpPr>
        <p:spPr>
          <a:xfrm>
            <a:off x="640080" y="4489704"/>
            <a:ext cx="237744" cy="237744"/>
          </a:xfrm>
          <a:prstGeom prst="ellipse">
            <a:avLst/>
          </a:prstGeom>
          <a:solidFill>
            <a:srgbClr val="1E2761"/>
          </a:solidFill>
          <a:ln w="12700">
            <a:solidFill>
              <a:srgbClr val="333333"/>
            </a:solidFill>
            <a:prstDash val="solid"/>
          </a:ln>
        </p:spPr>
      </p:sp>
      <p:sp>
        <p:nvSpPr>
          <p:cNvPr id="11" name="Text 9"/>
          <p:cNvSpPr txBox="1"/>
          <p:nvPr/>
        </p:nvSpPr>
        <p:spPr>
          <a:xfrm>
            <a:off x="1051560" y="4434840"/>
            <a:ext cx="5623560" cy="292608"/>
          </a:xfrm>
          <a:prstGeom prst="rect">
            <a:avLst/>
          </a:prstGeom>
          <a:noFill/>
          <a:ln/>
        </p:spPr>
        <p:txBody>
          <a:bodyPr wrap="square" lIns="0" tIns="0" rIns="0" bIns="0" rtlCol="0" anchor="ctr"/>
          <a:lstStyle/>
          <a:p>
            <a:pPr indent="0" marL="0">
              <a:buNone/>
            </a:pPr>
            <a:r>
              <a:rPr lang="en-US" sz="1500" b="1" dirty="0">
                <a:solidFill>
                  <a:srgbClr val="0B0B0B"/>
                </a:solidFill>
                <a:latin typeface="Calibri" pitchFamily="34" charset="0"/>
                <a:ea typeface="Calibri" pitchFamily="34" charset="-122"/>
                <a:cs typeface="Calibri" pitchFamily="34" charset="-120"/>
              </a:rPr>
              <a:t>Die Prüfung ist vom Planer getrennt</a:t>
            </a:r>
            <a:endParaRPr lang="en-US" sz="1500" dirty="0"/>
          </a:p>
        </p:txBody>
      </p:sp>
      <p:sp>
        <p:nvSpPr>
          <p:cNvPr id="12" name="Text 10"/>
          <p:cNvSpPr txBox="1"/>
          <p:nvPr/>
        </p:nvSpPr>
        <p:spPr>
          <a:xfrm>
            <a:off x="1051560" y="4727448"/>
            <a:ext cx="5623560" cy="457200"/>
          </a:xfrm>
          <a:prstGeom prst="rect">
            <a:avLst/>
          </a:prstGeom>
          <a:noFill/>
          <a:ln/>
        </p:spPr>
        <p:txBody>
          <a:bodyPr wrap="square" lIns="0" tIns="0" rIns="0" bIns="0" rtlCol="0" anchor="ctr"/>
          <a:lstStyle/>
          <a:p>
            <a:pPr indent="0" marL="0">
              <a:lnSpc>
                <a:spcPts val="1700"/>
              </a:lnSpc>
              <a:buNone/>
            </a:pPr>
            <a:r>
              <a:rPr lang="en-US" sz="1300" dirty="0">
                <a:solidFill>
                  <a:srgbClr val="52514E"/>
                </a:solidFill>
                <a:latin typeface="Calibri" pitchFamily="34" charset="0"/>
                <a:ea typeface="Calibri" pitchFamily="34" charset="-122"/>
                <a:cs typeface="Calibri" pitchFamily="34" charset="-120"/>
              </a:rPr>
              <a:t>Eine eigene Funktion bewertet den fertigen Plan, ohne zu wissen, wer ihn erzeugt hat — sonst wäre der KPI-Vergleich zirkulär.</a:t>
            </a:r>
            <a:endParaRPr lang="en-US" sz="1300" dirty="0"/>
          </a:p>
        </p:txBody>
      </p:sp>
      <p:sp>
        <p:nvSpPr>
          <p:cNvPr id="13" name="Shape 11"/>
          <p:cNvSpPr/>
          <p:nvPr/>
        </p:nvSpPr>
        <p:spPr>
          <a:xfrm>
            <a:off x="7223760" y="1783080"/>
            <a:ext cx="4325112" cy="3931920"/>
          </a:xfrm>
          <a:prstGeom prst="roundRect">
            <a:avLst>
              <a:gd name="adj" fmla="val 1860"/>
            </a:avLst>
          </a:prstGeom>
          <a:solidFill>
            <a:srgbClr val="EEF4FE"/>
          </a:solidFill>
          <a:ln w="12700">
            <a:solidFill>
              <a:srgbClr val="EEF4FE"/>
            </a:solidFill>
            <a:prstDash val="solid"/>
          </a:ln>
          <a:effectLst>
            <a:outerShdw sx="100000" sy="100000" kx="0" ky="0" algn="bl" rotWithShape="0" blurRad="76200" dist="12700" dir="5400000">
              <a:srgbClr val="000000">
                <a:alpha val="10000"/>
              </a:srgbClr>
            </a:outerShdw>
          </a:effectLst>
        </p:spPr>
      </p:sp>
      <p:sp>
        <p:nvSpPr>
          <p:cNvPr id="14" name="Text 12"/>
          <p:cNvSpPr txBox="1"/>
          <p:nvPr/>
        </p:nvSpPr>
        <p:spPr>
          <a:xfrm>
            <a:off x="7543800" y="2011680"/>
            <a:ext cx="3931920" cy="365760"/>
          </a:xfrm>
          <a:prstGeom prst="rect">
            <a:avLst/>
          </a:prstGeom>
          <a:noFill/>
          <a:ln/>
        </p:spPr>
        <p:txBody>
          <a:bodyPr wrap="square" lIns="0" tIns="0" rIns="0" bIns="0" rtlCol="0" anchor="ctr"/>
          <a:lstStyle/>
          <a:p>
            <a:pPr indent="0" marL="0">
              <a:buNone/>
            </a:pPr>
            <a:r>
              <a:rPr lang="en-US" sz="1700" b="1" dirty="0">
                <a:solidFill>
                  <a:srgbClr val="1E2761"/>
                </a:solidFill>
                <a:latin typeface="Calibri" pitchFamily="34" charset="0"/>
                <a:ea typeface="Calibri" pitchFamily="34" charset="-122"/>
                <a:cs typeface="Calibri" pitchFamily="34" charset="-120"/>
              </a:rPr>
              <a:t>Versuchsaufbau</a:t>
            </a:r>
            <a:endParaRPr lang="en-US" sz="1700" dirty="0"/>
          </a:p>
        </p:txBody>
      </p:sp>
      <p:sp>
        <p:nvSpPr>
          <p:cNvPr id="15" name="Text 13"/>
          <p:cNvSpPr txBox="1"/>
          <p:nvPr/>
        </p:nvSpPr>
        <p:spPr>
          <a:xfrm>
            <a:off x="7543800" y="2468880"/>
            <a:ext cx="3931920" cy="2926080"/>
          </a:xfrm>
          <a:prstGeom prst="rect">
            <a:avLst/>
          </a:prstGeom>
          <a:noFill/>
          <a:ln/>
        </p:spPr>
        <p:txBody>
          <a:bodyPr wrap="square" lIns="0" tIns="0" rIns="0" bIns="0" rtlCol="0" anchor="ctr"/>
          <a:lstStyle/>
          <a:p>
            <a:pPr marL="342900" indent="-342900">
              <a:lnSpc>
                <a:spcPts val="1900"/>
              </a:lnSpc>
              <a:spcAft>
                <a:spcPts val="900"/>
              </a:spcAft>
              <a:buSzPct val="100000"/>
              <a:buChar char="•"/>
            </a:pPr>
            <a:r>
              <a:rPr lang="en-US" sz="1300" dirty="0">
                <a:solidFill>
                  <a:srgbClr val="52514E"/>
                </a:solidFill>
                <a:latin typeface="Calibri" pitchFamily="34" charset="0"/>
                <a:ea typeface="Calibri" pitchFamily="34" charset="-122"/>
                <a:cs typeface="Calibri" pitchFamily="34" charset="-120"/>
              </a:rPr>
              <a:t>5 Zufallsseeds</a:t>
            </a:r>
            <a:endParaRPr lang="en-US" sz="1300" dirty="0"/>
          </a:p>
          <a:p>
            <a:pPr marL="342900" indent="-342900">
              <a:lnSpc>
                <a:spcPts val="1900"/>
              </a:lnSpc>
              <a:spcAft>
                <a:spcPts val="900"/>
              </a:spcAft>
              <a:buSzPct val="100000"/>
              <a:buChar char="•"/>
            </a:pPr>
            <a:r>
              <a:rPr lang="en-US" sz="1300" dirty="0">
                <a:solidFill>
                  <a:srgbClr val="52514E"/>
                </a:solidFill>
                <a:latin typeface="Calibri" pitchFamily="34" charset="0"/>
                <a:ea typeface="Calibri" pitchFamily="34" charset="-122"/>
                <a:cs typeface="Calibri" pitchFamily="34" charset="-120"/>
              </a:rPr>
              <a:t>3 Personaldecken: 100 %, 90 %, 80 % des Bedarfs</a:t>
            </a:r>
            <a:endParaRPr lang="en-US" sz="1300" dirty="0"/>
          </a:p>
          <a:p>
            <a:pPr marL="342900" indent="-342900">
              <a:lnSpc>
                <a:spcPts val="1900"/>
              </a:lnSpc>
              <a:spcAft>
                <a:spcPts val="900"/>
              </a:spcAft>
              <a:buSzPct val="100000"/>
              <a:buChar char="•"/>
            </a:pPr>
            <a:r>
              <a:rPr lang="en-US" sz="1300" dirty="0">
                <a:solidFill>
                  <a:srgbClr val="52514E"/>
                </a:solidFill>
                <a:latin typeface="Calibri" pitchFamily="34" charset="0"/>
                <a:ea typeface="Calibri" pitchFamily="34" charset="-122"/>
                <a:cs typeface="Calibri" pitchFamily="34" charset="-120"/>
              </a:rPr>
              <a:t>3 Ausfallszenarien: keine, verteilte Einzeltage, Ausfallwelle</a:t>
            </a:r>
            <a:endParaRPr lang="en-US" sz="1300" dirty="0"/>
          </a:p>
          <a:p>
            <a:pPr marL="342900" indent="-342900">
              <a:lnSpc>
                <a:spcPts val="1900"/>
              </a:lnSpc>
              <a:spcAft>
                <a:spcPts val="900"/>
              </a:spcAft>
              <a:buSzPct val="100000"/>
              <a:buChar char="•"/>
            </a:pPr>
            <a:r>
              <a:rPr lang="en-US" sz="1300" dirty="0">
                <a:solidFill>
                  <a:srgbClr val="52514E"/>
                </a:solidFill>
                <a:latin typeface="Calibri" pitchFamily="34" charset="0"/>
                <a:ea typeface="Calibri" pitchFamily="34" charset="-122"/>
                <a:cs typeface="Calibri" pitchFamily="34" charset="-120"/>
              </a:rPr>
              <a:t>6 Verfahrensvarianten</a:t>
            </a:r>
            <a:endParaRPr lang="en-US" sz="1300" dirty="0"/>
          </a:p>
          <a:p>
            <a:pPr indent="0" marL="0">
              <a:lnSpc>
                <a:spcPts val="1900"/>
              </a:lnSpc>
              <a:spcAft>
                <a:spcPts val="900"/>
              </a:spcAft>
              <a:buNone/>
            </a:pPr>
            <a:r>
              <a:rPr lang="en-US" sz="1300" dirty="0">
                <a:solidFill>
                  <a:srgbClr val="52514E"/>
                </a:solidFill>
                <a:latin typeface="Calibri" pitchFamily="34" charset="0"/>
                <a:ea typeface="Calibri" pitchFamily="34" charset="-122"/>
                <a:cs typeface="Calibri" pitchFamily="34" charset="-120"/>
              </a:rPr>
              <a:t>= 270 Dienstpläne</a:t>
            </a:r>
            <a:endParaRPr lang="en-US" sz="1300" dirty="0"/>
          </a:p>
        </p:txBody>
      </p:sp>
      <p:sp>
        <p:nvSpPr>
          <p:cNvPr id="16" name="Text 14"/>
          <p:cNvSpPr txBox="1"/>
          <p:nvPr/>
        </p:nvSpPr>
        <p:spPr>
          <a:xfrm>
            <a:off x="640080" y="5806440"/>
            <a:ext cx="10908792" cy="365760"/>
          </a:xfrm>
          <a:prstGeom prst="rect">
            <a:avLst/>
          </a:prstGeom>
          <a:noFill/>
          <a:ln/>
        </p:spPr>
        <p:txBody>
          <a:bodyPr wrap="square" lIns="0" tIns="0" rIns="0" bIns="0" rtlCol="0" anchor="ctr"/>
          <a:lstStyle/>
          <a:p>
            <a:pPr indent="0" marL="0">
              <a:buNone/>
            </a:pPr>
            <a:r>
              <a:rPr lang="en-US" sz="1400" b="1" dirty="0">
                <a:solidFill>
                  <a:srgbClr val="EB6834"/>
                </a:solidFill>
                <a:latin typeface="Calibri" pitchFamily="34" charset="0"/>
                <a:ea typeface="Calibri" pitchFamily="34" charset="-122"/>
                <a:cs typeface="Calibri" pitchFamily="34" charset="-120"/>
              </a:rPr>
              <a:t>Prototyp live in Streamlit Cloud</a:t>
            </a:r>
            <a:endParaRPr lang="en-US" sz="1400" dirty="0"/>
          </a:p>
        </p:txBody>
      </p:sp>
      <p:sp>
        <p:nvSpPr>
          <p:cNvPr id="17" name="Text 15"/>
          <p:cNvSpPr txBox="1"/>
          <p:nvPr/>
        </p:nvSpPr>
        <p:spPr>
          <a:xfrm>
            <a:off x="640080" y="6327648"/>
            <a:ext cx="10908792" cy="320040"/>
          </a:xfrm>
          <a:prstGeom prst="rect">
            <a:avLst/>
          </a:prstGeom>
          <a:noFill/>
          <a:ln/>
        </p:spPr>
        <p:txBody>
          <a:bodyPr wrap="square" lIns="0" tIns="0" rIns="0" bIns="0" rtlCol="0" anchor="ctr"/>
          <a:lstStyle/>
          <a:p>
            <a:pPr indent="0" marL="0">
              <a:buNone/>
            </a:pPr>
            <a:r>
              <a:rPr lang="en-US" sz="1000" dirty="0">
                <a:solidFill>
                  <a:srgbClr val="898781"/>
                </a:solidFill>
                <a:latin typeface="Calibri" pitchFamily="34" charset="0"/>
                <a:ea typeface="Calibri" pitchFamily="34" charset="-122"/>
                <a:cs typeface="Calibri" pitchFamily="34" charset="-120"/>
              </a:rPr>
              <a:t>Eine einzelne Instanz beweist nichts — die Personaldecke steuert, ob die Aufgabe überhaupt lösbar ist</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640080" y="411480"/>
            <a:ext cx="10908792" cy="64008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Ergebnis 1: Regelkonformität unter Knappheit</a:t>
            </a:r>
            <a:endParaRPr lang="en-US" sz="3200" dirty="0"/>
          </a:p>
        </p:txBody>
      </p:sp>
      <p:sp>
        <p:nvSpPr>
          <p:cNvPr id="3" name="Text 1"/>
          <p:cNvSpPr txBox="1"/>
          <p:nvPr/>
        </p:nvSpPr>
        <p:spPr>
          <a:xfrm>
            <a:off x="640080" y="1078992"/>
            <a:ext cx="10908792" cy="457200"/>
          </a:xfrm>
          <a:prstGeom prst="rect">
            <a:avLst/>
          </a:prstGeom>
          <a:noFill/>
          <a:ln/>
        </p:spPr>
        <p:txBody>
          <a:bodyPr wrap="square" lIns="0" tIns="0" rIns="0" bIns="0" rtlCol="0" anchor="ctr"/>
          <a:lstStyle/>
          <a:p>
            <a:pPr indent="0" marL="0">
              <a:buNone/>
            </a:pPr>
            <a:r>
              <a:rPr lang="en-US" sz="1500" i="1" dirty="0">
                <a:solidFill>
                  <a:srgbClr val="52514E"/>
                </a:solidFill>
                <a:latin typeface="Calibri" pitchFamily="34" charset="0"/>
                <a:ea typeface="Calibri" pitchFamily="34" charset="-122"/>
                <a:cs typeface="Calibri" pitchFamily="34" charset="-120"/>
              </a:rPr>
              <a:t>Bei bedarfsgerechter Besetzung sind beide nahezu gleich regelkonform. Der Unterschied entsteht, wenn es eng wird.</a:t>
            </a:r>
            <a:endParaRPr lang="en-US" sz="1500" dirty="0"/>
          </a:p>
        </p:txBody>
      </p:sp>
      <p:pic>
        <p:nvPicPr>
          <p:cNvPr id="4" name="Image 0" descr="/home/claude/careplan/abbildungen/01_regelkonformitaet.png">    </p:cNvPr>
          <p:cNvPicPr>
            <a:picLocks noChangeAspect="1"/>
          </p:cNvPicPr>
          <p:nvPr/>
        </p:nvPicPr>
        <p:blipFill>
          <a:blip r:embed="rId1"/>
          <a:stretch>
            <a:fillRect/>
          </a:stretch>
        </p:blipFill>
        <p:spPr>
          <a:xfrm>
            <a:off x="640080" y="1691640"/>
            <a:ext cx="6057991" cy="4434840"/>
          </a:xfrm>
          <a:prstGeom prst="rect">
            <a:avLst/>
          </a:prstGeom>
        </p:spPr>
      </p:pic>
      <p:sp>
        <p:nvSpPr>
          <p:cNvPr id="5" name="Shape 2"/>
          <p:cNvSpPr/>
          <p:nvPr/>
        </p:nvSpPr>
        <p:spPr>
          <a:xfrm>
            <a:off x="7109551" y="1691640"/>
            <a:ext cx="4439321" cy="4434840"/>
          </a:xfrm>
          <a:prstGeom prst="roundRect">
            <a:avLst>
              <a:gd name="adj" fmla="val 1649"/>
            </a:avLst>
          </a:prstGeom>
          <a:solidFill>
            <a:srgbClr val="EEF4FE"/>
          </a:solidFill>
          <a:ln w="12700">
            <a:solidFill>
              <a:srgbClr val="EEF4FE"/>
            </a:solidFill>
            <a:prstDash val="solid"/>
          </a:ln>
          <a:effectLst>
            <a:outerShdw sx="100000" sy="100000" kx="0" ky="0" algn="bl" rotWithShape="0" blurRad="76200" dist="12700" dir="5400000">
              <a:srgbClr val="000000">
                <a:alpha val="10000"/>
              </a:srgbClr>
            </a:outerShdw>
          </a:effectLst>
        </p:spPr>
      </p:sp>
      <p:sp>
        <p:nvSpPr>
          <p:cNvPr id="6" name="Text 3"/>
          <p:cNvSpPr txBox="1"/>
          <p:nvPr/>
        </p:nvSpPr>
        <p:spPr>
          <a:xfrm>
            <a:off x="7383871" y="1920240"/>
            <a:ext cx="3890681" cy="32004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Bei 80 % Personaldecke</a:t>
            </a:r>
            <a:endParaRPr lang="en-US" sz="1500" dirty="0"/>
          </a:p>
        </p:txBody>
      </p:sp>
      <p:sp>
        <p:nvSpPr>
          <p:cNvPr id="7" name="Text 4"/>
          <p:cNvSpPr txBox="1"/>
          <p:nvPr/>
        </p:nvSpPr>
        <p:spPr>
          <a:xfrm>
            <a:off x="7383871" y="2240280"/>
            <a:ext cx="3890681" cy="822960"/>
          </a:xfrm>
          <a:prstGeom prst="rect">
            <a:avLst/>
          </a:prstGeom>
          <a:noFill/>
          <a:ln/>
        </p:spPr>
        <p:txBody>
          <a:bodyPr wrap="square" lIns="0" tIns="0" rIns="0" bIns="0" rtlCol="0" anchor="ctr"/>
          <a:lstStyle/>
          <a:p>
            <a:pPr indent="0" marL="0">
              <a:lnSpc>
                <a:spcPts val="1700"/>
              </a:lnSpc>
              <a:buNone/>
            </a:pPr>
            <a:r>
              <a:rPr lang="en-US" sz="1300" dirty="0">
                <a:solidFill>
                  <a:srgbClr val="52514E"/>
                </a:solidFill>
                <a:latin typeface="Calibri" pitchFamily="34" charset="0"/>
                <a:ea typeface="Calibri" pitchFamily="34" charset="-122"/>
                <a:cs typeface="Calibri" pitchFamily="34" charset="-120"/>
              </a:rPr>
              <a:t>war kein einziger Plan der Baseline vollständig regelkonform — gegenüber 100 % der optimierten Pläne.</a:t>
            </a:r>
            <a:endParaRPr lang="en-US" sz="1300" dirty="0"/>
          </a:p>
        </p:txBody>
      </p:sp>
      <p:sp>
        <p:nvSpPr>
          <p:cNvPr id="8" name="Text 5"/>
          <p:cNvSpPr txBox="1"/>
          <p:nvPr/>
        </p:nvSpPr>
        <p:spPr>
          <a:xfrm>
            <a:off x="7383871" y="3154680"/>
            <a:ext cx="3890681" cy="32004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6,5 Untergrenzenverstöße je Plan</a:t>
            </a:r>
            <a:endParaRPr lang="en-US" sz="1500" dirty="0"/>
          </a:p>
        </p:txBody>
      </p:sp>
      <p:sp>
        <p:nvSpPr>
          <p:cNvPr id="9" name="Text 6"/>
          <p:cNvSpPr txBox="1"/>
          <p:nvPr/>
        </p:nvSpPr>
        <p:spPr>
          <a:xfrm>
            <a:off x="7383871" y="3474720"/>
            <a:ext cx="3890681" cy="822960"/>
          </a:xfrm>
          <a:prstGeom prst="rect">
            <a:avLst/>
          </a:prstGeom>
          <a:noFill/>
          <a:ln/>
        </p:spPr>
        <p:txBody>
          <a:bodyPr wrap="square" lIns="0" tIns="0" rIns="0" bIns="0" rtlCol="0" anchor="ctr"/>
          <a:lstStyle/>
          <a:p>
            <a:pPr indent="0" marL="0">
              <a:lnSpc>
                <a:spcPts val="1700"/>
              </a:lnSpc>
              <a:buNone/>
            </a:pPr>
            <a:r>
              <a:rPr lang="en-US" sz="1300" dirty="0">
                <a:solidFill>
                  <a:srgbClr val="52514E"/>
                </a:solidFill>
                <a:latin typeface="Calibri" pitchFamily="34" charset="0"/>
                <a:ea typeface="Calibri" pitchFamily="34" charset="-122"/>
                <a:cs typeface="Calibri" pitchFamily="34" charset="-120"/>
              </a:rPr>
              <a:t>gegenüber null. Das ist ein Rechtsrisiko nach § 137i SGB V, kein Qualitätsdetail.</a:t>
            </a:r>
            <a:endParaRPr lang="en-US" sz="1300" dirty="0"/>
          </a:p>
        </p:txBody>
      </p:sp>
      <p:sp>
        <p:nvSpPr>
          <p:cNvPr id="10" name="Text 7"/>
          <p:cNvSpPr txBox="1"/>
          <p:nvPr/>
        </p:nvSpPr>
        <p:spPr>
          <a:xfrm>
            <a:off x="7383871" y="4389120"/>
            <a:ext cx="3890681" cy="32004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113 unbesetzte Dienste</a:t>
            </a:r>
            <a:endParaRPr lang="en-US" sz="1500" dirty="0"/>
          </a:p>
        </p:txBody>
      </p:sp>
      <p:sp>
        <p:nvSpPr>
          <p:cNvPr id="11" name="Text 8"/>
          <p:cNvSpPr txBox="1"/>
          <p:nvPr/>
        </p:nvSpPr>
        <p:spPr>
          <a:xfrm>
            <a:off x="7383871" y="4709160"/>
            <a:ext cx="3890681" cy="822960"/>
          </a:xfrm>
          <a:prstGeom prst="rect">
            <a:avLst/>
          </a:prstGeom>
          <a:noFill/>
          <a:ln/>
        </p:spPr>
        <p:txBody>
          <a:bodyPr wrap="square" lIns="0" tIns="0" rIns="0" bIns="0" rtlCol="0" anchor="ctr"/>
          <a:lstStyle/>
          <a:p>
            <a:pPr indent="0" marL="0">
              <a:lnSpc>
                <a:spcPts val="1700"/>
              </a:lnSpc>
              <a:buNone/>
            </a:pPr>
            <a:r>
              <a:rPr lang="en-US" sz="1300" dirty="0">
                <a:solidFill>
                  <a:srgbClr val="52514E"/>
                </a:solidFill>
                <a:latin typeface="Calibri" pitchFamily="34" charset="0"/>
                <a:ea typeface="Calibri" pitchFamily="34" charset="-122"/>
                <a:cs typeface="Calibri" pitchFamily="34" charset="-120"/>
              </a:rPr>
              <a:t>lässt die Heuristik bei 80 % Decke stehen — die Optimierung 10, und jeden davon oberhalb der Untergrenze.</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640080" y="411480"/>
            <a:ext cx="10908792" cy="64008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Ergebnis 2: Vier von zehn arbeiten jedes Wochenende</a:t>
            </a:r>
            <a:endParaRPr lang="en-US" sz="3200" dirty="0"/>
          </a:p>
        </p:txBody>
      </p:sp>
      <p:sp>
        <p:nvSpPr>
          <p:cNvPr id="3" name="Text 1"/>
          <p:cNvSpPr txBox="1"/>
          <p:nvPr/>
        </p:nvSpPr>
        <p:spPr>
          <a:xfrm>
            <a:off x="640080" y="1078992"/>
            <a:ext cx="10908792" cy="457200"/>
          </a:xfrm>
          <a:prstGeom prst="rect">
            <a:avLst/>
          </a:prstGeom>
          <a:noFill/>
          <a:ln/>
        </p:spPr>
        <p:txBody>
          <a:bodyPr wrap="square" lIns="0" tIns="0" rIns="0" bIns="0" rtlCol="0" anchor="ctr"/>
          <a:lstStyle/>
          <a:p>
            <a:pPr indent="0" marL="0">
              <a:buNone/>
            </a:pPr>
            <a:r>
              <a:rPr lang="en-US" sz="1500" i="1" dirty="0">
                <a:solidFill>
                  <a:srgbClr val="52514E"/>
                </a:solidFill>
                <a:latin typeface="Calibri" pitchFamily="34" charset="0"/>
                <a:ea typeface="Calibri" pitchFamily="34" charset="-122"/>
                <a:cs typeface="Calibri" pitchFamily="34" charset="-120"/>
              </a:rPr>
              <a:t>Gleiche Daten, gleiche Regeln — und schon bei bedarfsgerechter Decke ein völlig anderer Monat.</a:t>
            </a:r>
            <a:endParaRPr lang="en-US" sz="1500" dirty="0"/>
          </a:p>
        </p:txBody>
      </p:sp>
      <p:pic>
        <p:nvPicPr>
          <p:cNvPr id="4" name="Image 0" descr="/home/claude/careplan/abbildungen/04_lastverteilung.png">    </p:cNvPr>
          <p:cNvPicPr>
            <a:picLocks noChangeAspect="1"/>
          </p:cNvPicPr>
          <p:nvPr/>
        </p:nvPicPr>
        <p:blipFill>
          <a:blip r:embed="rId1"/>
          <a:stretch>
            <a:fillRect/>
          </a:stretch>
        </p:blipFill>
        <p:spPr>
          <a:xfrm>
            <a:off x="640080" y="1691640"/>
            <a:ext cx="7315200" cy="3293652"/>
          </a:xfrm>
          <a:prstGeom prst="rect">
            <a:avLst/>
          </a:prstGeom>
        </p:spPr>
      </p:pic>
      <p:sp>
        <p:nvSpPr>
          <p:cNvPr id="5" name="Shape 2"/>
          <p:cNvSpPr/>
          <p:nvPr/>
        </p:nvSpPr>
        <p:spPr>
          <a:xfrm>
            <a:off x="8366760" y="1691640"/>
            <a:ext cx="3182112" cy="4069080"/>
          </a:xfrm>
          <a:prstGeom prst="roundRect">
            <a:avLst>
              <a:gd name="adj" fmla="val 2299"/>
            </a:avLst>
          </a:prstGeom>
          <a:solidFill>
            <a:srgbClr val="EEF4FE"/>
          </a:solidFill>
          <a:ln w="12700">
            <a:solidFill>
              <a:srgbClr val="EEF4FE"/>
            </a:solidFill>
            <a:prstDash val="solid"/>
          </a:ln>
          <a:effectLst>
            <a:outerShdw sx="100000" sy="100000" kx="0" ky="0" algn="bl" rotWithShape="0" blurRad="76200" dist="12700" dir="5400000">
              <a:srgbClr val="000000">
                <a:alpha val="10000"/>
              </a:srgbClr>
            </a:outerShdw>
          </a:effectLst>
        </p:spPr>
      </p:sp>
      <p:sp>
        <p:nvSpPr>
          <p:cNvPr id="6" name="Text 3"/>
          <p:cNvSpPr txBox="1"/>
          <p:nvPr/>
        </p:nvSpPr>
        <p:spPr>
          <a:xfrm>
            <a:off x="8641080" y="1920240"/>
            <a:ext cx="2633472" cy="32004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41 % gegen 0,3 %</a:t>
            </a:r>
            <a:endParaRPr lang="en-US" sz="1500" dirty="0"/>
          </a:p>
        </p:txBody>
      </p:sp>
      <p:sp>
        <p:nvSpPr>
          <p:cNvPr id="7" name="Text 4"/>
          <p:cNvSpPr txBox="1"/>
          <p:nvPr/>
        </p:nvSpPr>
        <p:spPr>
          <a:xfrm>
            <a:off x="8641080" y="2240280"/>
            <a:ext cx="2633472" cy="822960"/>
          </a:xfrm>
          <a:prstGeom prst="rect">
            <a:avLst/>
          </a:prstGeom>
          <a:noFill/>
          <a:ln/>
        </p:spPr>
        <p:txBody>
          <a:bodyPr wrap="square" lIns="0" tIns="0" rIns="0" bIns="0" rtlCol="0" anchor="ctr"/>
          <a:lstStyle/>
          <a:p>
            <a:pPr indent="0" marL="0">
              <a:lnSpc>
                <a:spcPts val="1700"/>
              </a:lnSpc>
              <a:buNone/>
            </a:pPr>
            <a:r>
              <a:rPr lang="en-US" sz="1300" dirty="0">
                <a:solidFill>
                  <a:srgbClr val="52514E"/>
                </a:solidFill>
                <a:latin typeface="Calibri" pitchFamily="34" charset="0"/>
                <a:ea typeface="Calibri" pitchFamily="34" charset="-122"/>
                <a:cs typeface="Calibri" pitchFamily="34" charset="-120"/>
              </a:rPr>
              <a:t>So groß ist der Anteil der Belegschaft, der in den Plänen der Heuristik an allen vier Wochenenden im Dienst ist.</a:t>
            </a:r>
            <a:endParaRPr lang="en-US" sz="1300" dirty="0"/>
          </a:p>
        </p:txBody>
      </p:sp>
      <p:sp>
        <p:nvSpPr>
          <p:cNvPr id="8" name="Text 5"/>
          <p:cNvSpPr txBox="1"/>
          <p:nvPr/>
        </p:nvSpPr>
        <p:spPr>
          <a:xfrm>
            <a:off x="8641080" y="3154680"/>
            <a:ext cx="2633472" cy="32004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Kein Machbarkeitsproblem</a:t>
            </a:r>
            <a:endParaRPr lang="en-US" sz="1500" dirty="0"/>
          </a:p>
        </p:txBody>
      </p:sp>
      <p:sp>
        <p:nvSpPr>
          <p:cNvPr id="9" name="Text 6"/>
          <p:cNvSpPr txBox="1"/>
          <p:nvPr/>
        </p:nvSpPr>
        <p:spPr>
          <a:xfrm>
            <a:off x="8641080" y="3474720"/>
            <a:ext cx="2633472" cy="822960"/>
          </a:xfrm>
          <a:prstGeom prst="rect">
            <a:avLst/>
          </a:prstGeom>
          <a:noFill/>
          <a:ln/>
        </p:spPr>
        <p:txBody>
          <a:bodyPr wrap="square" lIns="0" tIns="0" rIns="0" bIns="0" rtlCol="0" anchor="ctr"/>
          <a:lstStyle/>
          <a:p>
            <a:pPr indent="0" marL="0">
              <a:lnSpc>
                <a:spcPts val="1700"/>
              </a:lnSpc>
              <a:buNone/>
            </a:pPr>
            <a:r>
              <a:rPr lang="en-US" sz="1300" dirty="0">
                <a:solidFill>
                  <a:srgbClr val="52514E"/>
                </a:solidFill>
                <a:latin typeface="Calibri" pitchFamily="34" charset="0"/>
                <a:ea typeface="Calibri" pitchFamily="34" charset="-122"/>
                <a:cs typeface="Calibri" pitchFamily="34" charset="-120"/>
              </a:rPr>
              <a:t>Auf denselben Daten findet die Optimierung eine Verteilung, in der 88 % genau auf dem Richtwert von zwei Wochenenden liegen.</a:t>
            </a:r>
            <a:endParaRPr lang="en-US" sz="1300" dirty="0"/>
          </a:p>
        </p:txBody>
      </p:sp>
      <p:sp>
        <p:nvSpPr>
          <p:cNvPr id="10" name="Text 7"/>
          <p:cNvSpPr txBox="1"/>
          <p:nvPr/>
        </p:nvSpPr>
        <p:spPr>
          <a:xfrm>
            <a:off x="8641080" y="4389120"/>
            <a:ext cx="2633472" cy="32004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Für die Personalbindung</a:t>
            </a:r>
            <a:endParaRPr lang="en-US" sz="1500" dirty="0"/>
          </a:p>
        </p:txBody>
      </p:sp>
      <p:sp>
        <p:nvSpPr>
          <p:cNvPr id="11" name="Text 8"/>
          <p:cNvSpPr txBox="1"/>
          <p:nvPr/>
        </p:nvSpPr>
        <p:spPr>
          <a:xfrm>
            <a:off x="8641080" y="4709160"/>
            <a:ext cx="2633472" cy="822960"/>
          </a:xfrm>
          <a:prstGeom prst="rect">
            <a:avLst/>
          </a:prstGeom>
          <a:noFill/>
          <a:ln/>
        </p:spPr>
        <p:txBody>
          <a:bodyPr wrap="square" lIns="0" tIns="0" rIns="0" bIns="0" rtlCol="0" anchor="ctr"/>
          <a:lstStyle/>
          <a:p>
            <a:pPr indent="0" marL="0">
              <a:lnSpc>
                <a:spcPts val="1700"/>
              </a:lnSpc>
              <a:buNone/>
            </a:pPr>
            <a:r>
              <a:rPr lang="en-US" sz="1300" dirty="0">
                <a:solidFill>
                  <a:srgbClr val="52514E"/>
                </a:solidFill>
                <a:latin typeface="Calibri" pitchFamily="34" charset="0"/>
                <a:ea typeface="Calibri" pitchFamily="34" charset="-122"/>
                <a:cs typeface="Calibri" pitchFamily="34" charset="-120"/>
              </a:rPr>
              <a:t>ist das die relevanteste Zahl der ganzen Auswertung — sie taucht in keiner Besetzungsquote auf.</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640080" y="411480"/>
            <a:ext cx="10908792" cy="64008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Ergebnis 3: Die Zielfunktion entscheidet</a:t>
            </a:r>
            <a:endParaRPr lang="en-US" sz="3200" dirty="0"/>
          </a:p>
        </p:txBody>
      </p:sp>
      <p:sp>
        <p:nvSpPr>
          <p:cNvPr id="3" name="Text 1"/>
          <p:cNvSpPr txBox="1"/>
          <p:nvPr/>
        </p:nvSpPr>
        <p:spPr>
          <a:xfrm>
            <a:off x="640080" y="1078992"/>
            <a:ext cx="10908792" cy="457200"/>
          </a:xfrm>
          <a:prstGeom prst="rect">
            <a:avLst/>
          </a:prstGeom>
          <a:noFill/>
          <a:ln/>
        </p:spPr>
        <p:txBody>
          <a:bodyPr wrap="square" lIns="0" tIns="0" rIns="0" bIns="0" rtlCol="0" anchor="ctr"/>
          <a:lstStyle/>
          <a:p>
            <a:pPr indent="0" marL="0">
              <a:buNone/>
            </a:pPr>
            <a:r>
              <a:rPr lang="en-US" sz="1500" i="1" dirty="0">
                <a:solidFill>
                  <a:srgbClr val="52514E"/>
                </a:solidFill>
                <a:latin typeface="Calibri" pitchFamily="34" charset="0"/>
                <a:ea typeface="Calibri" pitchFamily="34" charset="-122"/>
                <a:cs typeface="Calibri" pitchFamily="34" charset="-120"/>
              </a:rPr>
              <a:t>Optimierung ist nur so gut wie die Ziele, die man ihr vorgibt — das war unser methodischer Kernbefund.</a:t>
            </a:r>
            <a:endParaRPr lang="en-US" sz="1500" dirty="0"/>
          </a:p>
        </p:txBody>
      </p:sp>
      <p:pic>
        <p:nvPicPr>
          <p:cNvPr id="4" name="Image 0" descr="/home/claude/careplan/abbildungen/05_zielkonflikt.png">    </p:cNvPr>
          <p:cNvPicPr>
            <a:picLocks noChangeAspect="1"/>
          </p:cNvPicPr>
          <p:nvPr/>
        </p:nvPicPr>
        <p:blipFill>
          <a:blip r:embed="rId1"/>
          <a:stretch>
            <a:fillRect/>
          </a:stretch>
        </p:blipFill>
        <p:spPr>
          <a:xfrm>
            <a:off x="640080" y="1691640"/>
            <a:ext cx="7315200" cy="3960585"/>
          </a:xfrm>
          <a:prstGeom prst="rect">
            <a:avLst/>
          </a:prstGeom>
        </p:spPr>
      </p:pic>
      <p:sp>
        <p:nvSpPr>
          <p:cNvPr id="5" name="Shape 2"/>
          <p:cNvSpPr/>
          <p:nvPr/>
        </p:nvSpPr>
        <p:spPr>
          <a:xfrm>
            <a:off x="8366760" y="1691640"/>
            <a:ext cx="3182112" cy="4069080"/>
          </a:xfrm>
          <a:prstGeom prst="roundRect">
            <a:avLst>
              <a:gd name="adj" fmla="val 2299"/>
            </a:avLst>
          </a:prstGeom>
          <a:solidFill>
            <a:srgbClr val="EEF4FE"/>
          </a:solidFill>
          <a:ln w="12700">
            <a:solidFill>
              <a:srgbClr val="EEF4FE"/>
            </a:solidFill>
            <a:prstDash val="solid"/>
          </a:ln>
          <a:effectLst>
            <a:outerShdw sx="100000" sy="100000" kx="0" ky="0" algn="bl" rotWithShape="0" blurRad="76200" dist="12700" dir="5400000">
              <a:srgbClr val="000000">
                <a:alpha val="10000"/>
              </a:srgbClr>
            </a:outerShdw>
          </a:effectLst>
        </p:spPr>
      </p:sp>
      <p:sp>
        <p:nvSpPr>
          <p:cNvPr id="6" name="Text 3"/>
          <p:cNvSpPr txBox="1"/>
          <p:nvPr/>
        </p:nvSpPr>
        <p:spPr>
          <a:xfrm>
            <a:off x="8641080" y="1920240"/>
            <a:ext cx="2633472" cy="32004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Neu optimieren war schlechter</a:t>
            </a:r>
            <a:endParaRPr lang="en-US" sz="1500" dirty="0"/>
          </a:p>
        </p:txBody>
      </p:sp>
      <p:sp>
        <p:nvSpPr>
          <p:cNvPr id="7" name="Text 4"/>
          <p:cNvSpPr txBox="1"/>
          <p:nvPr/>
        </p:nvSpPr>
        <p:spPr>
          <a:xfrm>
            <a:off x="8641080" y="2240280"/>
            <a:ext cx="2633472" cy="822960"/>
          </a:xfrm>
          <a:prstGeom prst="rect">
            <a:avLst/>
          </a:prstGeom>
          <a:noFill/>
          <a:ln/>
        </p:spPr>
        <p:txBody>
          <a:bodyPr wrap="square" lIns="0" tIns="0" rIns="0" bIns="0" rtlCol="0" anchor="ctr"/>
          <a:lstStyle/>
          <a:p>
            <a:pPr indent="0" marL="0">
              <a:lnSpc>
                <a:spcPts val="1700"/>
              </a:lnSpc>
              <a:buNone/>
            </a:pPr>
            <a:r>
              <a:rPr lang="en-US" sz="1300" dirty="0">
                <a:solidFill>
                  <a:srgbClr val="52514E"/>
                </a:solidFill>
                <a:latin typeface="Calibri" pitchFamily="34" charset="0"/>
                <a:ea typeface="Calibri" pitchFamily="34" charset="-122"/>
                <a:cs typeface="Calibri" pitchFamily="34" charset="-120"/>
              </a:rPr>
              <a:t>als die simple Heuristik: nur rund ein Viertel der Dienste blieb bestehen. Der Monat wird faktisch neu gemacht.</a:t>
            </a:r>
            <a:endParaRPr lang="en-US" sz="1300" dirty="0"/>
          </a:p>
        </p:txBody>
      </p:sp>
      <p:sp>
        <p:nvSpPr>
          <p:cNvPr id="8" name="Text 5"/>
          <p:cNvSpPr txBox="1"/>
          <p:nvPr/>
        </p:nvSpPr>
        <p:spPr>
          <a:xfrm>
            <a:off x="8641080" y="3154680"/>
            <a:ext cx="2633472" cy="32004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Erst mit „wenig ändern“ im Modell</a:t>
            </a:r>
            <a:endParaRPr lang="en-US" sz="1500" dirty="0"/>
          </a:p>
        </p:txBody>
      </p:sp>
      <p:sp>
        <p:nvSpPr>
          <p:cNvPr id="9" name="Text 6"/>
          <p:cNvSpPr txBox="1"/>
          <p:nvPr/>
        </p:nvSpPr>
        <p:spPr>
          <a:xfrm>
            <a:off x="8641080" y="3474720"/>
            <a:ext cx="2633472" cy="822960"/>
          </a:xfrm>
          <a:prstGeom prst="rect">
            <a:avLst/>
          </a:prstGeom>
          <a:noFill/>
          <a:ln/>
        </p:spPr>
        <p:txBody>
          <a:bodyPr wrap="square" lIns="0" tIns="0" rIns="0" bIns="0" rtlCol="0" anchor="ctr"/>
          <a:lstStyle/>
          <a:p>
            <a:pPr indent="0" marL="0">
              <a:lnSpc>
                <a:spcPts val="1700"/>
              </a:lnSpc>
              <a:buNone/>
            </a:pPr>
            <a:r>
              <a:rPr lang="en-US" sz="1300" dirty="0">
                <a:solidFill>
                  <a:srgbClr val="52514E"/>
                </a:solidFill>
                <a:latin typeface="Calibri" pitchFamily="34" charset="0"/>
                <a:ea typeface="Calibri" pitchFamily="34" charset="-122"/>
                <a:cs typeface="Calibri" pitchFamily="34" charset="-120"/>
              </a:rPr>
              <a:t>stieg die Planstabilität auf 92 % — bei nahezu gleicher Besetzungsquote und in rund einer halben Sekunde.</a:t>
            </a:r>
            <a:endParaRPr lang="en-US" sz="1300" dirty="0"/>
          </a:p>
        </p:txBody>
      </p:sp>
      <p:sp>
        <p:nvSpPr>
          <p:cNvPr id="10" name="Text 7"/>
          <p:cNvSpPr txBox="1"/>
          <p:nvPr/>
        </p:nvSpPr>
        <p:spPr>
          <a:xfrm>
            <a:off x="8641080" y="4389120"/>
            <a:ext cx="2633472" cy="32004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Der Preis ist messbar</a:t>
            </a:r>
            <a:endParaRPr lang="en-US" sz="1500" dirty="0"/>
          </a:p>
        </p:txBody>
      </p:sp>
      <p:sp>
        <p:nvSpPr>
          <p:cNvPr id="11" name="Text 8"/>
          <p:cNvSpPr txBox="1"/>
          <p:nvPr/>
        </p:nvSpPr>
        <p:spPr>
          <a:xfrm>
            <a:off x="8641080" y="4709160"/>
            <a:ext cx="2633472" cy="822960"/>
          </a:xfrm>
          <a:prstGeom prst="rect">
            <a:avLst/>
          </a:prstGeom>
          <a:noFill/>
          <a:ln/>
        </p:spPr>
        <p:txBody>
          <a:bodyPr wrap="square" lIns="0" tIns="0" rIns="0" bIns="0" rtlCol="0" anchor="ctr"/>
          <a:lstStyle/>
          <a:p>
            <a:pPr indent="0" marL="0">
              <a:lnSpc>
                <a:spcPts val="1700"/>
              </a:lnSpc>
              <a:buNone/>
            </a:pPr>
            <a:r>
              <a:rPr lang="en-US" sz="1300" dirty="0">
                <a:solidFill>
                  <a:srgbClr val="52514E"/>
                </a:solidFill>
                <a:latin typeface="Calibri" pitchFamily="34" charset="0"/>
                <a:ea typeface="Calibri" pitchFamily="34" charset="-122"/>
                <a:cs typeface="Calibri" pitchFamily="34" charset="-120"/>
              </a:rPr>
              <a:t>Unter der Welle steigt die Spanne der Auslastung von 19 auf 26 Prozentpunkte. Welches Ziel gewinnt, ist eine Führungsfrage.</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E2761"/>
        </a:solidFill>
      </p:bgPr>
    </p:bg>
    <p:spTree>
      <p:nvGrpSpPr>
        <p:cNvPr id="1" name=""/>
        <p:cNvGrpSpPr/>
        <p:nvPr/>
      </p:nvGrpSpPr>
      <p:grpSpPr>
        <a:xfrm>
          <a:off x="0" y="0"/>
          <a:ext cx="0" cy="0"/>
          <a:chOff x="0" y="0"/>
          <a:chExt cx="0" cy="0"/>
        </a:xfrm>
      </p:grpSpPr>
      <p:sp>
        <p:nvSpPr>
          <p:cNvPr id="2" name="Text 0"/>
          <p:cNvSpPr txBox="1"/>
          <p:nvPr/>
        </p:nvSpPr>
        <p:spPr>
          <a:xfrm>
            <a:off x="640080" y="548640"/>
            <a:ext cx="10908792" cy="64008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Die Antwort auf unsere Leitfrage</a:t>
            </a:r>
            <a:endParaRPr lang="en-US" sz="3200" dirty="0"/>
          </a:p>
        </p:txBody>
      </p:sp>
      <p:sp>
        <p:nvSpPr>
          <p:cNvPr id="3" name="Text 1"/>
          <p:cNvSpPr txBox="1"/>
          <p:nvPr/>
        </p:nvSpPr>
        <p:spPr>
          <a:xfrm>
            <a:off x="640080" y="1234440"/>
            <a:ext cx="10908792" cy="411480"/>
          </a:xfrm>
          <a:prstGeom prst="rect">
            <a:avLst/>
          </a:prstGeom>
          <a:noFill/>
          <a:ln/>
        </p:spPr>
        <p:txBody>
          <a:bodyPr wrap="square" lIns="0" tIns="0" rIns="0" bIns="0" rtlCol="0" anchor="ctr"/>
          <a:lstStyle/>
          <a:p>
            <a:pPr indent="0" marL="0">
              <a:buNone/>
            </a:pPr>
            <a:r>
              <a:rPr lang="en-US" sz="1600" i="1" dirty="0">
                <a:solidFill>
                  <a:srgbClr val="CADCFC"/>
                </a:solidFill>
                <a:latin typeface="Calibri" pitchFamily="34" charset="0"/>
                <a:ea typeface="Calibri" pitchFamily="34" charset="-122"/>
                <a:cs typeface="Calibri" pitchFamily="34" charset="-120"/>
              </a:rPr>
              <a:t>Im End-to-End-Vergleich gewinnt die Optimierung jede einzelne Kennzahl.</a:t>
            </a:r>
            <a:endParaRPr lang="en-US" sz="1600" dirty="0"/>
          </a:p>
        </p:txBody>
      </p:sp>
      <p:sp>
        <p:nvSpPr>
          <p:cNvPr id="4" name="Shape 2"/>
          <p:cNvSpPr/>
          <p:nvPr/>
        </p:nvSpPr>
        <p:spPr>
          <a:xfrm>
            <a:off x="640080" y="1828800"/>
            <a:ext cx="2606040" cy="1417320"/>
          </a:xfrm>
          <a:prstGeom prst="roundRect">
            <a:avLst>
              <a:gd name="adj" fmla="val 5161"/>
            </a:avLst>
          </a:prstGeom>
          <a:solidFill>
            <a:srgbClr val="2A3670"/>
          </a:solidFill>
          <a:ln w="12700">
            <a:solidFill>
              <a:srgbClr val="333333"/>
            </a:solidFill>
            <a:prstDash val="solid"/>
          </a:ln>
        </p:spPr>
      </p:sp>
      <p:sp>
        <p:nvSpPr>
          <p:cNvPr id="5" name="Text 3"/>
          <p:cNvSpPr txBox="1"/>
          <p:nvPr/>
        </p:nvSpPr>
        <p:spPr>
          <a:xfrm>
            <a:off x="841248" y="1993392"/>
            <a:ext cx="2194560" cy="548640"/>
          </a:xfrm>
          <a:prstGeom prst="rect">
            <a:avLst/>
          </a:prstGeom>
          <a:noFill/>
          <a:ln/>
        </p:spPr>
        <p:txBody>
          <a:bodyPr wrap="square" lIns="0" tIns="0" rIns="0" bIns="0" rtlCol="0" anchor="ctr"/>
          <a:lstStyle/>
          <a:p>
            <a:pPr indent="0" marL="0">
              <a:buNone/>
            </a:pPr>
            <a:r>
              <a:rPr lang="en-US" sz="3200" b="1" dirty="0">
                <a:solidFill>
                  <a:srgbClr val="EB6834"/>
                </a:solidFill>
                <a:latin typeface="Cambria" pitchFamily="34" charset="0"/>
                <a:ea typeface="Cambria" pitchFamily="34" charset="-122"/>
                <a:cs typeface="Cambria" pitchFamily="34" charset="-120"/>
              </a:rPr>
              <a:t>99,7 %</a:t>
            </a:r>
            <a:endParaRPr lang="en-US" sz="3200" dirty="0"/>
          </a:p>
        </p:txBody>
      </p:sp>
      <p:sp>
        <p:nvSpPr>
          <p:cNvPr id="6" name="Text 4"/>
          <p:cNvSpPr txBox="1"/>
          <p:nvPr/>
        </p:nvSpPr>
        <p:spPr>
          <a:xfrm>
            <a:off x="841248" y="2560320"/>
            <a:ext cx="2194560" cy="566928"/>
          </a:xfrm>
          <a:prstGeom prst="rect">
            <a:avLst/>
          </a:prstGeom>
          <a:noFill/>
          <a:ln/>
        </p:spPr>
        <p:txBody>
          <a:bodyPr wrap="square" lIns="0" tIns="0" rIns="0" bIns="0" rtlCol="0" anchor="ctr"/>
          <a:lstStyle/>
          <a:p>
            <a:pPr indent="0" marL="0">
              <a:lnSpc>
                <a:spcPts val="1500"/>
              </a:lnSpc>
              <a:buNone/>
            </a:pPr>
            <a:r>
              <a:rPr lang="en-US" sz="1200" dirty="0">
                <a:solidFill>
                  <a:srgbClr val="CADCFC"/>
                </a:solidFill>
                <a:latin typeface="Calibri" pitchFamily="34" charset="0"/>
                <a:ea typeface="Calibri" pitchFamily="34" charset="-122"/>
                <a:cs typeface="Calibri" pitchFamily="34" charset="-120"/>
              </a:rPr>
              <a:t>Besetzungsquote</a:t>
            </a:r>
            <a:endParaRPr lang="en-US" sz="1200" dirty="0"/>
          </a:p>
          <a:p>
            <a:pPr indent="0" marL="0">
              <a:lnSpc>
                <a:spcPts val="1500"/>
              </a:lnSpc>
              <a:buNone/>
            </a:pPr>
            <a:r>
              <a:rPr lang="en-US" sz="1200" dirty="0">
                <a:solidFill>
                  <a:srgbClr val="CADCFC"/>
                </a:solidFill>
                <a:latin typeface="Calibri" pitchFamily="34" charset="0"/>
                <a:ea typeface="Calibri" pitchFamily="34" charset="-122"/>
                <a:cs typeface="Calibri" pitchFamily="34" charset="-120"/>
              </a:rPr>
              <a:t>statt 97,3 %</a:t>
            </a:r>
            <a:endParaRPr lang="en-US" sz="1200" dirty="0"/>
          </a:p>
        </p:txBody>
      </p:sp>
      <p:sp>
        <p:nvSpPr>
          <p:cNvPr id="7" name="Shape 5"/>
          <p:cNvSpPr/>
          <p:nvPr/>
        </p:nvSpPr>
        <p:spPr>
          <a:xfrm>
            <a:off x="3429000" y="1828800"/>
            <a:ext cx="2606040" cy="1417320"/>
          </a:xfrm>
          <a:prstGeom prst="roundRect">
            <a:avLst>
              <a:gd name="adj" fmla="val 5161"/>
            </a:avLst>
          </a:prstGeom>
          <a:solidFill>
            <a:srgbClr val="2A3670"/>
          </a:solidFill>
          <a:ln w="12700">
            <a:solidFill>
              <a:srgbClr val="333333"/>
            </a:solidFill>
            <a:prstDash val="solid"/>
          </a:ln>
        </p:spPr>
      </p:sp>
      <p:sp>
        <p:nvSpPr>
          <p:cNvPr id="8" name="Text 6"/>
          <p:cNvSpPr txBox="1"/>
          <p:nvPr/>
        </p:nvSpPr>
        <p:spPr>
          <a:xfrm>
            <a:off x="3630168" y="1993392"/>
            <a:ext cx="2194560" cy="548640"/>
          </a:xfrm>
          <a:prstGeom prst="rect">
            <a:avLst/>
          </a:prstGeom>
          <a:noFill/>
          <a:ln/>
        </p:spPr>
        <p:txBody>
          <a:bodyPr wrap="square" lIns="0" tIns="0" rIns="0" bIns="0" rtlCol="0" anchor="ctr"/>
          <a:lstStyle/>
          <a:p>
            <a:pPr indent="0" marL="0">
              <a:buNone/>
            </a:pPr>
            <a:r>
              <a:rPr lang="en-US" sz="3200" b="1" dirty="0">
                <a:solidFill>
                  <a:srgbClr val="EB6834"/>
                </a:solidFill>
                <a:latin typeface="Cambria" pitchFamily="34" charset="0"/>
                <a:ea typeface="Cambria" pitchFamily="34" charset="-122"/>
                <a:cs typeface="Cambria" pitchFamily="34" charset="-120"/>
              </a:rPr>
              <a:t>0</a:t>
            </a:r>
            <a:endParaRPr lang="en-US" sz="3200" dirty="0"/>
          </a:p>
        </p:txBody>
      </p:sp>
      <p:sp>
        <p:nvSpPr>
          <p:cNvPr id="9" name="Text 7"/>
          <p:cNvSpPr txBox="1"/>
          <p:nvPr/>
        </p:nvSpPr>
        <p:spPr>
          <a:xfrm>
            <a:off x="3630168" y="2560320"/>
            <a:ext cx="2194560" cy="566928"/>
          </a:xfrm>
          <a:prstGeom prst="rect">
            <a:avLst/>
          </a:prstGeom>
          <a:noFill/>
          <a:ln/>
        </p:spPr>
        <p:txBody>
          <a:bodyPr wrap="square" lIns="0" tIns="0" rIns="0" bIns="0" rtlCol="0" anchor="ctr"/>
          <a:lstStyle/>
          <a:p>
            <a:pPr indent="0" marL="0">
              <a:lnSpc>
                <a:spcPts val="1500"/>
              </a:lnSpc>
              <a:buNone/>
            </a:pPr>
            <a:r>
              <a:rPr lang="en-US" sz="1200" dirty="0">
                <a:solidFill>
                  <a:srgbClr val="CADCFC"/>
                </a:solidFill>
                <a:latin typeface="Calibri" pitchFamily="34" charset="0"/>
                <a:ea typeface="Calibri" pitchFamily="34" charset="-122"/>
                <a:cs typeface="Calibri" pitchFamily="34" charset="-120"/>
              </a:rPr>
              <a:t>Untergrenzenverstöße</a:t>
            </a:r>
            <a:endParaRPr lang="en-US" sz="1200" dirty="0"/>
          </a:p>
          <a:p>
            <a:pPr indent="0" marL="0">
              <a:lnSpc>
                <a:spcPts val="1500"/>
              </a:lnSpc>
              <a:buNone/>
            </a:pPr>
            <a:r>
              <a:rPr lang="en-US" sz="1200" dirty="0">
                <a:solidFill>
                  <a:srgbClr val="CADCFC"/>
                </a:solidFill>
                <a:latin typeface="Calibri" pitchFamily="34" charset="0"/>
                <a:ea typeface="Calibri" pitchFamily="34" charset="-122"/>
                <a:cs typeface="Calibri" pitchFamily="34" charset="-120"/>
              </a:rPr>
              <a:t>statt 2,60 je Plan</a:t>
            </a:r>
            <a:endParaRPr lang="en-US" sz="1200" dirty="0"/>
          </a:p>
        </p:txBody>
      </p:sp>
      <p:sp>
        <p:nvSpPr>
          <p:cNvPr id="10" name="Shape 8"/>
          <p:cNvSpPr/>
          <p:nvPr/>
        </p:nvSpPr>
        <p:spPr>
          <a:xfrm>
            <a:off x="6217920" y="1828800"/>
            <a:ext cx="2606040" cy="1417320"/>
          </a:xfrm>
          <a:prstGeom prst="roundRect">
            <a:avLst>
              <a:gd name="adj" fmla="val 5161"/>
            </a:avLst>
          </a:prstGeom>
          <a:solidFill>
            <a:srgbClr val="2A3670"/>
          </a:solidFill>
          <a:ln w="12700">
            <a:solidFill>
              <a:srgbClr val="333333"/>
            </a:solidFill>
            <a:prstDash val="solid"/>
          </a:ln>
        </p:spPr>
      </p:sp>
      <p:sp>
        <p:nvSpPr>
          <p:cNvPr id="11" name="Text 9"/>
          <p:cNvSpPr txBox="1"/>
          <p:nvPr/>
        </p:nvSpPr>
        <p:spPr>
          <a:xfrm>
            <a:off x="6419088" y="1993392"/>
            <a:ext cx="2194560" cy="548640"/>
          </a:xfrm>
          <a:prstGeom prst="rect">
            <a:avLst/>
          </a:prstGeom>
          <a:noFill/>
          <a:ln/>
        </p:spPr>
        <p:txBody>
          <a:bodyPr wrap="square" lIns="0" tIns="0" rIns="0" bIns="0" rtlCol="0" anchor="ctr"/>
          <a:lstStyle/>
          <a:p>
            <a:pPr indent="0" marL="0">
              <a:buNone/>
            </a:pPr>
            <a:r>
              <a:rPr lang="en-US" sz="3200" b="1" dirty="0">
                <a:solidFill>
                  <a:srgbClr val="EB6834"/>
                </a:solidFill>
                <a:latin typeface="Cambria" pitchFamily="34" charset="0"/>
                <a:ea typeface="Cambria" pitchFamily="34" charset="-122"/>
                <a:cs typeface="Cambria" pitchFamily="34" charset="-120"/>
              </a:rPr>
              <a:t>25 Pp.</a:t>
            </a:r>
            <a:endParaRPr lang="en-US" sz="3200" dirty="0"/>
          </a:p>
        </p:txBody>
      </p:sp>
      <p:sp>
        <p:nvSpPr>
          <p:cNvPr id="12" name="Text 10"/>
          <p:cNvSpPr txBox="1"/>
          <p:nvPr/>
        </p:nvSpPr>
        <p:spPr>
          <a:xfrm>
            <a:off x="6419088" y="2560320"/>
            <a:ext cx="2194560" cy="566928"/>
          </a:xfrm>
          <a:prstGeom prst="rect">
            <a:avLst/>
          </a:prstGeom>
          <a:noFill/>
          <a:ln/>
        </p:spPr>
        <p:txBody>
          <a:bodyPr wrap="square" lIns="0" tIns="0" rIns="0" bIns="0" rtlCol="0" anchor="ctr"/>
          <a:lstStyle/>
          <a:p>
            <a:pPr indent="0" marL="0">
              <a:lnSpc>
                <a:spcPts val="1500"/>
              </a:lnSpc>
              <a:buNone/>
            </a:pPr>
            <a:r>
              <a:rPr lang="en-US" sz="1200" dirty="0">
                <a:solidFill>
                  <a:srgbClr val="CADCFC"/>
                </a:solidFill>
                <a:latin typeface="Calibri" pitchFamily="34" charset="0"/>
                <a:ea typeface="Calibri" pitchFamily="34" charset="-122"/>
                <a:cs typeface="Calibri" pitchFamily="34" charset="-120"/>
              </a:rPr>
              <a:t>Spanne der Auslastung</a:t>
            </a:r>
            <a:endParaRPr lang="en-US" sz="1200" dirty="0"/>
          </a:p>
          <a:p>
            <a:pPr indent="0" marL="0">
              <a:lnSpc>
                <a:spcPts val="1500"/>
              </a:lnSpc>
              <a:buNone/>
            </a:pPr>
            <a:r>
              <a:rPr lang="en-US" sz="1200" dirty="0">
                <a:solidFill>
                  <a:srgbClr val="CADCFC"/>
                </a:solidFill>
                <a:latin typeface="Calibri" pitchFamily="34" charset="0"/>
                <a:ea typeface="Calibri" pitchFamily="34" charset="-122"/>
                <a:cs typeface="Calibri" pitchFamily="34" charset="-120"/>
              </a:rPr>
              <a:t>statt 32 Prozentpunkte</a:t>
            </a:r>
            <a:endParaRPr lang="en-US" sz="1200" dirty="0"/>
          </a:p>
        </p:txBody>
      </p:sp>
      <p:sp>
        <p:nvSpPr>
          <p:cNvPr id="13" name="Shape 11"/>
          <p:cNvSpPr/>
          <p:nvPr/>
        </p:nvSpPr>
        <p:spPr>
          <a:xfrm>
            <a:off x="9006840" y="1828800"/>
            <a:ext cx="2606040" cy="1417320"/>
          </a:xfrm>
          <a:prstGeom prst="roundRect">
            <a:avLst>
              <a:gd name="adj" fmla="val 5161"/>
            </a:avLst>
          </a:prstGeom>
          <a:solidFill>
            <a:srgbClr val="2A3670"/>
          </a:solidFill>
          <a:ln w="12700">
            <a:solidFill>
              <a:srgbClr val="333333"/>
            </a:solidFill>
            <a:prstDash val="solid"/>
          </a:ln>
        </p:spPr>
      </p:sp>
      <p:sp>
        <p:nvSpPr>
          <p:cNvPr id="14" name="Text 12"/>
          <p:cNvSpPr txBox="1"/>
          <p:nvPr/>
        </p:nvSpPr>
        <p:spPr>
          <a:xfrm>
            <a:off x="9208008" y="1993392"/>
            <a:ext cx="2194560" cy="548640"/>
          </a:xfrm>
          <a:prstGeom prst="rect">
            <a:avLst/>
          </a:prstGeom>
          <a:noFill/>
          <a:ln/>
        </p:spPr>
        <p:txBody>
          <a:bodyPr wrap="square" lIns="0" tIns="0" rIns="0" bIns="0" rtlCol="0" anchor="ctr"/>
          <a:lstStyle/>
          <a:p>
            <a:pPr indent="0" marL="0">
              <a:buNone/>
            </a:pPr>
            <a:r>
              <a:rPr lang="en-US" sz="3200" b="1" dirty="0">
                <a:solidFill>
                  <a:srgbClr val="EB6834"/>
                </a:solidFill>
                <a:latin typeface="Cambria" pitchFamily="34" charset="0"/>
                <a:ea typeface="Cambria" pitchFamily="34" charset="-122"/>
                <a:cs typeface="Cambria" pitchFamily="34" charset="-120"/>
              </a:rPr>
              <a:t>22,8</a:t>
            </a:r>
            <a:endParaRPr lang="en-US" sz="3200" dirty="0"/>
          </a:p>
        </p:txBody>
      </p:sp>
      <p:sp>
        <p:nvSpPr>
          <p:cNvPr id="15" name="Text 13"/>
          <p:cNvSpPr txBox="1"/>
          <p:nvPr/>
        </p:nvSpPr>
        <p:spPr>
          <a:xfrm>
            <a:off x="9208008" y="2560320"/>
            <a:ext cx="2194560" cy="566928"/>
          </a:xfrm>
          <a:prstGeom prst="rect">
            <a:avLst/>
          </a:prstGeom>
          <a:noFill/>
          <a:ln/>
        </p:spPr>
        <p:txBody>
          <a:bodyPr wrap="square" lIns="0" tIns="0" rIns="0" bIns="0" rtlCol="0" anchor="ctr"/>
          <a:lstStyle/>
          <a:p>
            <a:pPr indent="0" marL="0">
              <a:lnSpc>
                <a:spcPts val="1500"/>
              </a:lnSpc>
              <a:buNone/>
            </a:pPr>
            <a:r>
              <a:rPr lang="en-US" sz="1200" dirty="0">
                <a:solidFill>
                  <a:srgbClr val="CADCFC"/>
                </a:solidFill>
                <a:latin typeface="Calibri" pitchFamily="34" charset="0"/>
                <a:ea typeface="Calibri" pitchFamily="34" charset="-122"/>
                <a:cs typeface="Calibri" pitchFamily="34" charset="-120"/>
              </a:rPr>
              <a:t>geänderte Dienste</a:t>
            </a:r>
            <a:endParaRPr lang="en-US" sz="1200" dirty="0"/>
          </a:p>
          <a:p>
            <a:pPr indent="0" marL="0">
              <a:lnSpc>
                <a:spcPts val="1500"/>
              </a:lnSpc>
              <a:buNone/>
            </a:pPr>
            <a:r>
              <a:rPr lang="en-US" sz="1200" dirty="0">
                <a:solidFill>
                  <a:srgbClr val="CADCFC"/>
                </a:solidFill>
                <a:latin typeface="Calibri" pitchFamily="34" charset="0"/>
                <a:ea typeface="Calibri" pitchFamily="34" charset="-122"/>
                <a:cs typeface="Calibri" pitchFamily="34" charset="-120"/>
              </a:rPr>
              <a:t>statt 30,3 je Monat</a:t>
            </a:r>
            <a:endParaRPr lang="en-US" sz="1200" dirty="0"/>
          </a:p>
        </p:txBody>
      </p:sp>
      <p:sp>
        <p:nvSpPr>
          <p:cNvPr id="16" name="Text 14"/>
          <p:cNvSpPr txBox="1"/>
          <p:nvPr/>
        </p:nvSpPr>
        <p:spPr>
          <a:xfrm>
            <a:off x="640080" y="3520440"/>
            <a:ext cx="10908792" cy="640080"/>
          </a:xfrm>
          <a:prstGeom prst="rect">
            <a:avLst/>
          </a:prstGeom>
          <a:noFill/>
          <a:ln/>
        </p:spPr>
        <p:txBody>
          <a:bodyPr wrap="square" lIns="0" tIns="0" rIns="0" bIns="0" rtlCol="0" anchor="ctr"/>
          <a:lstStyle/>
          <a:p>
            <a:pPr indent="0" marL="0">
              <a:lnSpc>
                <a:spcPts val="2200"/>
              </a:lnSpc>
              <a:buNone/>
            </a:pPr>
            <a:r>
              <a:rPr lang="en-US" sz="1500" b="1" dirty="0">
                <a:solidFill>
                  <a:srgbClr val="FFFFFF"/>
                </a:solidFill>
                <a:latin typeface="Calibri" pitchFamily="34" charset="0"/>
                <a:ea typeface="Calibri" pitchFamily="34" charset="-122"/>
                <a:cs typeface="Calibri" pitchFamily="34" charset="-120"/>
              </a:rPr>
              <a:t>Bei der Erstellung  </a:t>
            </a:r>
            <a:pPr indent="0" marL="0">
              <a:lnSpc>
                <a:spcPts val="2200"/>
              </a:lnSpc>
              <a:buNone/>
            </a:pPr>
            <a:r>
              <a:rPr lang="en-US" sz="1500" dirty="0">
                <a:solidFill>
                  <a:srgbClr val="CADCFC"/>
                </a:solidFill>
                <a:latin typeface="Calibri" pitchFamily="34" charset="0"/>
                <a:ea typeface="Calibri" pitchFamily="34" charset="-122"/>
                <a:cs typeface="Calibri" pitchFamily="34" charset="-120"/>
              </a:rPr>
              <a:t>liegt der Mehrwert nicht in der Machbarkeit, sondern in Regelkonformität unter Knappheit und in Verteilungsgerechtigkeit. Ist genug Personal da, sichert auch eine Regelheuristik die Rechtskonformität — den Unterschied macht dann die Lastverteilung.</a:t>
            </a:r>
            <a:endParaRPr lang="en-US" sz="1500" dirty="0"/>
          </a:p>
        </p:txBody>
      </p:sp>
      <p:sp>
        <p:nvSpPr>
          <p:cNvPr id="17" name="Text 15"/>
          <p:cNvSpPr txBox="1"/>
          <p:nvPr/>
        </p:nvSpPr>
        <p:spPr>
          <a:xfrm>
            <a:off x="640080" y="4160520"/>
            <a:ext cx="10908792" cy="457200"/>
          </a:xfrm>
          <a:prstGeom prst="rect">
            <a:avLst/>
          </a:prstGeom>
          <a:noFill/>
          <a:ln/>
        </p:spPr>
        <p:txBody>
          <a:bodyPr wrap="square" lIns="0" tIns="0" rIns="0" bIns="0" rtlCol="0" anchor="ctr"/>
          <a:lstStyle/>
          <a:p>
            <a:pPr indent="0" marL="0">
              <a:lnSpc>
                <a:spcPts val="2200"/>
              </a:lnSpc>
              <a:buNone/>
            </a:pPr>
            <a:r>
              <a:rPr lang="en-US" sz="1500" b="1" dirty="0">
                <a:solidFill>
                  <a:srgbClr val="FFFFFF"/>
                </a:solidFill>
                <a:latin typeface="Calibri" pitchFamily="34" charset="0"/>
                <a:ea typeface="Calibri" pitchFamily="34" charset="-122"/>
                <a:cs typeface="Calibri" pitchFamily="34" charset="-120"/>
              </a:rPr>
              <a:t>Bei der Anpassung  </a:t>
            </a:r>
            <a:pPr indent="0" marL="0">
              <a:lnSpc>
                <a:spcPts val="2200"/>
              </a:lnSpc>
              <a:buNone/>
            </a:pPr>
            <a:r>
              <a:rPr lang="en-US" sz="1500" dirty="0">
                <a:solidFill>
                  <a:srgbClr val="CADCFC"/>
                </a:solidFill>
                <a:latin typeface="Calibri" pitchFamily="34" charset="0"/>
                <a:ea typeface="Calibri" pitchFamily="34" charset="-122"/>
                <a:cs typeface="Calibri" pitchFamily="34" charset="-120"/>
              </a:rPr>
              <a:t>liegt er in der Planstabilität — aber nur, wenn Stabilität ausdrücklich als Ziel modelliert wird.</a:t>
            </a:r>
            <a:endParaRPr lang="en-US" sz="1500" dirty="0"/>
          </a:p>
        </p:txBody>
      </p:sp>
      <p:sp>
        <p:nvSpPr>
          <p:cNvPr id="18" name="Text 16"/>
          <p:cNvSpPr txBox="1"/>
          <p:nvPr/>
        </p:nvSpPr>
        <p:spPr>
          <a:xfrm>
            <a:off x="640080" y="4617720"/>
            <a:ext cx="10908792" cy="822960"/>
          </a:xfrm>
          <a:prstGeom prst="rect">
            <a:avLst/>
          </a:prstGeom>
          <a:noFill/>
          <a:ln/>
        </p:spPr>
        <p:txBody>
          <a:bodyPr wrap="square" lIns="0" tIns="0" rIns="0" bIns="0" rtlCol="0" anchor="ctr"/>
          <a:lstStyle/>
          <a:p>
            <a:pPr indent="0" marL="0">
              <a:lnSpc>
                <a:spcPts val="2200"/>
              </a:lnSpc>
              <a:buNone/>
            </a:pPr>
            <a:r>
              <a:rPr lang="en-US" sz="1500" b="1" dirty="0">
                <a:solidFill>
                  <a:srgbClr val="FFFFFF"/>
                </a:solidFill>
                <a:latin typeface="Calibri" pitchFamily="34" charset="0"/>
                <a:ea typeface="Calibri" pitchFamily="34" charset="-122"/>
                <a:cs typeface="Calibri" pitchFamily="34" charset="-120"/>
              </a:rPr>
              <a:t>Beides zusammen  </a:t>
            </a:r>
            <a:pPr indent="0" marL="0">
              <a:lnSpc>
                <a:spcPts val="2200"/>
              </a:lnSpc>
              <a:buNone/>
            </a:pPr>
            <a:r>
              <a:rPr lang="en-US" sz="1500" dirty="0">
                <a:solidFill>
                  <a:srgbClr val="CADCFC"/>
                </a:solidFill>
                <a:latin typeface="Calibri" pitchFamily="34" charset="0"/>
                <a:ea typeface="Calibri" pitchFamily="34" charset="-122"/>
                <a:cs typeface="Calibri" pitchFamily="34" charset="-120"/>
              </a:rPr>
              <a:t>ergibt mehr als die Summe: Nur wenn Planung und Anpassung aus demselben System kommen, sinkt die Zahl der Planänderungen auf 22,8. Ein Optimierer als reine Feuerwehr auf bestehenden Excel-Plänen hebt die Rechtssicherheit, aber nicht die Entlastung.</a:t>
            </a:r>
            <a:endParaRPr lang="en-US" sz="1500" dirty="0"/>
          </a:p>
        </p:txBody>
      </p:sp>
      <p:sp>
        <p:nvSpPr>
          <p:cNvPr id="19" name="Text 17"/>
          <p:cNvSpPr txBox="1"/>
          <p:nvPr/>
        </p:nvSpPr>
        <p:spPr>
          <a:xfrm>
            <a:off x="640080" y="5577840"/>
            <a:ext cx="10908792" cy="640080"/>
          </a:xfrm>
          <a:prstGeom prst="rect">
            <a:avLst/>
          </a:prstGeom>
          <a:noFill/>
          <a:ln/>
        </p:spPr>
        <p:txBody>
          <a:bodyPr wrap="square" lIns="0" tIns="0" rIns="0" bIns="0" rtlCol="0" anchor="ctr"/>
          <a:lstStyle/>
          <a:p>
            <a:pPr indent="0" marL="0">
              <a:lnSpc>
                <a:spcPts val="2200"/>
              </a:lnSpc>
              <a:buNone/>
            </a:pPr>
            <a:r>
              <a:rPr lang="en-US" sz="1500" b="1" dirty="0">
                <a:solidFill>
                  <a:srgbClr val="EB6834"/>
                </a:solidFill>
                <a:latin typeface="Calibri" pitchFamily="34" charset="0"/>
                <a:ea typeface="Calibri" pitchFamily="34" charset="-122"/>
                <a:cs typeface="Calibri" pitchFamily="34" charset="-120"/>
              </a:rPr>
              <a:t>Unsere Empfehlung: Optimierung einführen, wo die Personaldecke knapp ist — und die Gewichtung der Ziele als Führungsentscheidung behandeln, nicht als Konfigurationsdetail.</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KI-gestützte Schichtplanung in der Pflege — Kurzfassung</dc:title>
  <dc:subject>PptxGenJS Presentation</dc:subject>
  <dc:creator>Projektteam KI &amp; Management</dc:creator>
  <cp:lastModifiedBy>Projektteam KI &amp; Management</cp:lastModifiedBy>
  <cp:revision>1</cp:revision>
  <dcterms:created xsi:type="dcterms:W3CDTF">2026-09-21T18:40:21Z</dcterms:created>
  <dcterms:modified xsi:type="dcterms:W3CDTF">2026-09-21T18:40:21Z</dcterms:modified>
</cp:coreProperties>
</file>