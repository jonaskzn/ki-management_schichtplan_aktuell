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Dienstpläne in der Pflege werden überwiegend manuell erstellt. Wir haben geprüft, ob und wann sich Optimierung lohnt. Die Antwort ist differenzierter als erwartet.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Kernbotschaft: Das ist kein reines Pflege- oder IT-Thema. Zwei Drittel der Häuser sind defizitär, und Untergrenzenverstöße sind sanktionsbewehrt.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Diese Regeln stehen bei uns nicht im Programmcode, sondern als Spalten im Datensatz. Ändert sich die Rechtslage, ändert sich eine Zahl.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Bewusst kein produktionsreifes System. Der Anspruch ist ein Prototyp, an dem sich die Frage beantworten lässt.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wichtig fuer die Bewertung: Methodenwahl begruendet, nicht ML als Default angenommen. Erwartbare Rueckfrage: Ist das ueberhaupt KI? Antwort in drei Ebenen. Erstens, die Aufgabenstellung verlangt kein ML - sie verlangt eine begruendete Methodenwahl und nennt mathematische Optimierung ausdruecklich als Kandidaten. Zweitens, fachlich gehoeren Suche, Constraint-Erfuellung und Scheduling seit jeher zum Kern der KI - siehe Russell und Norvig. Drittens, umgangssprachlich meint KI heute maschinelles Lernen, und in dem Sinn ist es keine KI: Das Modell lernt nicht. Wo ML passen wuerde, sagen wir im Ausblick - Ausfall- und Belegungsprognose als Vorstufe der Optimierung.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Datensatz ist das Fundament. Fester Seed heißt: jederzeit exakt neu erzeugbar.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ggf. kurze Live-Demo der Streamlit-App: Szenario umschalten, Ausfall melden, Plan ändert sich.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Prozent Personaldecke ist keine exotische Annahme — sie bildet eine real unterbesetzte Station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Kernfolie. Betonen: Der Mehrwert entsteht nicht im Normalbetrieb, sondern genau dort, wo es eng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anschaulichste Zahl des Projekts - sie kommt bei einem Pflegepublikum an. Gepoolt ueber alle 15 Instanzen und 608 Personenplaene. Wichtig zur Einordnung: Wochenend-Ueberschreitungen sind KEINE Rechtsverstoesse, sondern weiche Abweichungen vom Richtwert aus Annahme A10 - Belastungsschutz, nicht Legalitaet. 95 Prozent aller weichen Abweichungen der Heuristik sind Wochenend-Ueberschreitungen, Nachtdienste spielen praktisch keine Rolle.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Punkte. Erstens die Zielfunktion - unser methodischer Kernbefund. Zweitens die Messung: Planstabilitaet als Prozentwert haengt davon ab, wie gut der Ausgangsplan war, deshalb zeigen wir rechts die absolute Zahl geaenderter Dienste. Drittens, falls jemand nach einem gemeinsamen Ausgangsplan fragt - wir haben alle vier Kombinationen gerechnet. Geaenderte Dienste je gestoertem Plan: Excel-Plan von Excel repariert 30,3. Excel-Plan von MILP 34,8. MILP-Plan von Excel 36,0. MILP-Plan von MILP 22,8. Auf dem Excel-Plan aendert MILP mehr, weil es die Maengel des geerbten Plans mitbehebt. Nur die Diagonale erreicht 22,8 - der Vorteil ist systemisch, Planung und Anpassung gehoeren zusammen. Genau deshalb fragt die Leitfrage nach beidem.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Haeufige Rueckfrage: Koennte die Optimierung nicht beides? Teilweise. Die Differenz zwischen 19 und 26 Punkten Spanne ist der Preis der Vorgabe, moeglichst wenig zu aendern - Gewicht 200 fuer beibehalten gegen 0,02 fuer Lastausgleich. Mit Lastausgleich 0,1 statt 0,02 erreicht sie auf dem Plan der Heuristik unter der Welle die halbe Spanne (0,170 gegen 0,379) bei hoeherer Planstabilitaet (92,7 gegen 91,8 Prozent). Senkt man stattdessen das Gewicht fuer beibehalten auf 5, faellt die Spanne auf 0,076, aber die Stabilitaet auf 68 Prozent und die Zahl geaenderter Dienste steigt von 19 auf 108. Das ist die Sensitivitaetsanalyse in Abschnitt 4.5. Falls jemand nach der frueheren Fassung fragt: Dort lagen beide Verfahren unter der Welle gleichauf. Das war ein Artefakt fehlender Krankheitsgutschrift - Kranke galten als unterausgelastet.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Trennung ist bewertungsrelevant: gemessene Prototyp-Ergebnisse gegen geschätztes Potenzial.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Ehrlichkeit ist hier ein Pluspunkt. Besonders der zweite Punkt links: Wir überschätzen unsere eigene Baseline bewusst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Schluss: Die Frage war nicht, ob Optimierung besser ist, sondern wann und warum. Danke —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1371600"/>
            <a:ext cx="9144000" cy="320040"/>
          </a:xfrm>
          <a:prstGeom prst="rect">
            <a:avLst/>
          </a:prstGeom>
          <a:noFill/>
          <a:ln/>
        </p:spPr>
        <p:txBody>
          <a:bodyPr wrap="square" lIns="0" tIns="0" rIns="0" bIns="0" rtlCol="0" anchor="ctr"/>
          <a:lstStyle/>
          <a:p>
            <a:pPr indent="0" marL="0">
              <a:buNone/>
            </a:pPr>
            <a:r>
              <a:rPr lang="en-US" sz="1300" b="1" spc="200" kern="0" dirty="0">
                <a:solidFill>
                  <a:srgbClr val="EB6834"/>
                </a:solidFill>
                <a:latin typeface="Calibri" pitchFamily="34" charset="0"/>
                <a:ea typeface="Calibri" pitchFamily="34" charset="-122"/>
                <a:cs typeface="Calibri" pitchFamily="34" charset="-120"/>
              </a:rPr>
              <a:t>WPM KI UND MANAGEMENT · USE CASE</a:t>
            </a:r>
            <a:endParaRPr lang="en-US" sz="1300" dirty="0"/>
          </a:p>
        </p:txBody>
      </p:sp>
      <p:sp>
        <p:nvSpPr>
          <p:cNvPr id="3" name="Text 1"/>
          <p:cNvSpPr txBox="1"/>
          <p:nvPr/>
        </p:nvSpPr>
        <p:spPr>
          <a:xfrm>
            <a:off x="640080" y="1828800"/>
            <a:ext cx="10424160" cy="146304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KI-gestützte Schichtplanung in der Pflege</a:t>
            </a:r>
            <a:endParaRPr lang="en-US" sz="4400" dirty="0"/>
          </a:p>
        </p:txBody>
      </p:sp>
      <p:sp>
        <p:nvSpPr>
          <p:cNvPr id="4" name="Text 2"/>
          <p:cNvSpPr txBox="1"/>
          <p:nvPr/>
        </p:nvSpPr>
        <p:spPr>
          <a:xfrm>
            <a:off x="640080" y="3429000"/>
            <a:ext cx="9601200" cy="822960"/>
          </a:xfrm>
          <a:prstGeom prst="rect">
            <a:avLst/>
          </a:prstGeom>
          <a:noFill/>
          <a:ln/>
        </p:spPr>
        <p:txBody>
          <a:bodyPr wrap="square" lIns="0" tIns="0" rIns="0" bIns="0" rtlCol="0" anchor="ctr"/>
          <a:lstStyle/>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Was eine Optimierung gegenüber regelbasierter Excel-Planung wirklich leistet —</a:t>
            </a:r>
            <a:endParaRPr lang="en-US" sz="1700" dirty="0"/>
          </a:p>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und unter welchen Bedingungen sie es nicht tut.</a:t>
            </a:r>
            <a:endParaRPr lang="en-US" sz="1700" dirty="0"/>
          </a:p>
        </p:txBody>
      </p:sp>
      <p:sp>
        <p:nvSpPr>
          <p:cNvPr id="5" name="Text 3"/>
          <p:cNvSpPr txBox="1"/>
          <p:nvPr/>
        </p:nvSpPr>
        <p:spPr>
          <a:xfrm>
            <a:off x="640080" y="5760720"/>
            <a:ext cx="10424160" cy="457200"/>
          </a:xfrm>
          <a:prstGeom prst="rect">
            <a:avLst/>
          </a:prstGeom>
          <a:noFill/>
          <a:ln/>
        </p:spPr>
        <p:txBody>
          <a:bodyPr wrap="square" lIns="0" tIns="0" rIns="0" bIns="0" rtlCol="0" anchor="ctr"/>
          <a:lstStyle/>
          <a:p>
            <a:pPr indent="0" marL="0">
              <a:buNone/>
            </a:pPr>
            <a:r>
              <a:rPr lang="en-US" sz="1200" dirty="0">
                <a:solidFill>
                  <a:srgbClr val="9BA8CC"/>
                </a:solidFill>
                <a:latin typeface="Calibri" pitchFamily="34" charset="0"/>
                <a:ea typeface="Calibri" pitchFamily="34" charset="-122"/>
                <a:cs typeface="Calibri" pitchFamily="34" charset="-120"/>
              </a:rPr>
              <a:t>Prototyp und Evaluation über 270 Dienstpläne · Projektteam · Wintersemester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Warum Dienstplanung ein wirtschaftliches Thema ist</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Planungsqualität wirkt auf Erlöse, Sanktionsrisiko und Personalbindung.</a:t>
            </a:r>
            <a:endParaRPr lang="en-US" sz="1500" dirty="0"/>
          </a:p>
        </p:txBody>
      </p:sp>
      <p:sp>
        <p:nvSpPr>
          <p:cNvPr id="4" name="Shape 2"/>
          <p:cNvSpPr/>
          <p:nvPr/>
        </p:nvSpPr>
        <p:spPr>
          <a:xfrm>
            <a:off x="640080" y="1828800"/>
            <a:ext cx="3520440"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5" name="Text 3"/>
          <p:cNvSpPr txBox="1"/>
          <p:nvPr/>
        </p:nvSpPr>
        <p:spPr>
          <a:xfrm>
            <a:off x="868680" y="2029968"/>
            <a:ext cx="306324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66 %</a:t>
            </a:r>
            <a:endParaRPr lang="en-US" sz="4600" dirty="0"/>
          </a:p>
        </p:txBody>
      </p:sp>
      <p:sp>
        <p:nvSpPr>
          <p:cNvPr id="6" name="Text 4"/>
          <p:cNvSpPr txBox="1"/>
          <p:nvPr/>
        </p:nvSpPr>
        <p:spPr>
          <a:xfrm>
            <a:off x="868680" y="2816352"/>
            <a:ext cx="3063240"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der Krankenhäuser schrieben 2024 Verluste;</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70 % erwarten das auch für 2025</a:t>
            </a:r>
            <a:endParaRPr lang="en-US" sz="1300" dirty="0"/>
          </a:p>
        </p:txBody>
      </p:sp>
      <p:sp>
        <p:nvSpPr>
          <p:cNvPr id="7" name="Shape 5"/>
          <p:cNvSpPr/>
          <p:nvPr/>
        </p:nvSpPr>
        <p:spPr>
          <a:xfrm>
            <a:off x="4389120" y="1828800"/>
            <a:ext cx="3520440"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8" name="Text 6"/>
          <p:cNvSpPr txBox="1"/>
          <p:nvPr/>
        </p:nvSpPr>
        <p:spPr>
          <a:xfrm>
            <a:off x="4617720" y="2029968"/>
            <a:ext cx="306324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15 %</a:t>
            </a:r>
            <a:endParaRPr lang="en-US" sz="4600" dirty="0"/>
          </a:p>
        </p:txBody>
      </p:sp>
      <p:sp>
        <p:nvSpPr>
          <p:cNvPr id="9" name="Text 7"/>
          <p:cNvSpPr txBox="1"/>
          <p:nvPr/>
        </p:nvSpPr>
        <p:spPr>
          <a:xfrm>
            <a:off x="4617720" y="2816352"/>
            <a:ext cx="3063240"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der Schichten bleiben trotz gesetzlicher</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Untergrenzen regelmäßig unterbesetzt</a:t>
            </a:r>
            <a:endParaRPr lang="en-US" sz="1300" dirty="0"/>
          </a:p>
        </p:txBody>
      </p:sp>
      <p:sp>
        <p:nvSpPr>
          <p:cNvPr id="10" name="Shape 8"/>
          <p:cNvSpPr/>
          <p:nvPr/>
        </p:nvSpPr>
        <p:spPr>
          <a:xfrm>
            <a:off x="8138160" y="1828800"/>
            <a:ext cx="3410712"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11" name="Text 9"/>
          <p:cNvSpPr txBox="1"/>
          <p:nvPr/>
        </p:nvSpPr>
        <p:spPr>
          <a:xfrm>
            <a:off x="8366760" y="2029968"/>
            <a:ext cx="2953512" cy="777240"/>
          </a:xfrm>
          <a:prstGeom prst="rect">
            <a:avLst/>
          </a:prstGeom>
          <a:noFill/>
          <a:ln/>
        </p:spPr>
        <p:txBody>
          <a:bodyPr wrap="square" lIns="0" tIns="0" rIns="0" bIns="0" rtlCol="0" anchor="ctr"/>
          <a:lstStyle/>
          <a:p>
            <a:pPr indent="0" marL="0">
              <a:buNone/>
            </a:pPr>
            <a:r>
              <a:rPr lang="en-US" sz="4600" b="1" dirty="0">
                <a:solidFill>
                  <a:srgbClr val="EB6834"/>
                </a:solidFill>
                <a:latin typeface="Cambria" pitchFamily="34" charset="0"/>
                <a:ea typeface="Cambria" pitchFamily="34" charset="-122"/>
                <a:cs typeface="Cambria" pitchFamily="34" charset="-120"/>
              </a:rPr>
              <a:t>§ 137i</a:t>
            </a:r>
            <a:endParaRPr lang="en-US" sz="4600" dirty="0"/>
          </a:p>
        </p:txBody>
      </p:sp>
      <p:sp>
        <p:nvSpPr>
          <p:cNvPr id="12" name="Text 10"/>
          <p:cNvSpPr txBox="1"/>
          <p:nvPr/>
        </p:nvSpPr>
        <p:spPr>
          <a:xfrm>
            <a:off x="8366760" y="2816352"/>
            <a:ext cx="2953512"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SGB V: Unterschreitung der Untergrenze</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führt zu Vergütungsabschlägen</a:t>
            </a:r>
            <a:endParaRPr lang="en-US" sz="1300" dirty="0"/>
          </a:p>
        </p:txBody>
      </p:sp>
      <p:sp>
        <p:nvSpPr>
          <p:cNvPr id="13" name="Text 11"/>
          <p:cNvSpPr txBox="1"/>
          <p:nvPr/>
        </p:nvSpPr>
        <p:spPr>
          <a:xfrm>
            <a:off x="640080" y="3977640"/>
            <a:ext cx="10908792" cy="822960"/>
          </a:xfrm>
          <a:prstGeom prst="rect">
            <a:avLst/>
          </a:prstGeom>
          <a:noFill/>
          <a:ln/>
        </p:spPr>
        <p:txBody>
          <a:bodyPr wrap="square" lIns="0" tIns="0" rIns="0" bIns="0" rtlCol="0" anchor="ctr"/>
          <a:lstStyle/>
          <a:p>
            <a:pPr indent="0" marL="0">
              <a:lnSpc>
                <a:spcPts val="2400"/>
              </a:lnSpc>
              <a:buNone/>
            </a:pPr>
            <a:r>
              <a:rPr lang="en-US" sz="1600" dirty="0">
                <a:solidFill>
                  <a:srgbClr val="0B0B0B"/>
                </a:solidFill>
                <a:latin typeface="Calibri" pitchFamily="34" charset="0"/>
                <a:ea typeface="Calibri" pitchFamily="34" charset="-122"/>
                <a:cs typeface="Calibri" pitchFamily="34" charset="-120"/>
              </a:rPr>
              <a:t>Der übliche Ausweg bei Personalmangel ist die Bettensperrung — also bewusst verzichtete Erlöse. Wer mit demselben Personal regelkonform planen kann, verschiebt diese Schwelle.</a:t>
            </a:r>
            <a:endParaRPr lang="en-US" sz="1600" dirty="0"/>
          </a:p>
        </p:txBody>
      </p:sp>
      <p:sp>
        <p:nvSpPr>
          <p:cNvPr id="14" name="Text 12"/>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DKI Krankenhaus Barometer 2025 (376 Häuser) · Wissenschaftliche Dienste des Bundestages WD 8-3000-008/26 · § 137i Abs. 5 SGB V</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Was ein Dienstplan gleichzeitig einhalten muss</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Sechs Anforderungen, die sich gegenseitig widersprechen können.</a:t>
            </a:r>
            <a:endParaRPr lang="en-US" sz="1500" dirty="0"/>
          </a:p>
        </p:txBody>
      </p:sp>
      <p:sp>
        <p:nvSpPr>
          <p:cNvPr id="4" name="Shape 2"/>
          <p:cNvSpPr/>
          <p:nvPr/>
        </p:nvSpPr>
        <p:spPr>
          <a:xfrm>
            <a:off x="640080" y="1883664"/>
            <a:ext cx="237744" cy="237744"/>
          </a:xfrm>
          <a:prstGeom prst="ellipse">
            <a:avLst/>
          </a:prstGeom>
          <a:solidFill>
            <a:srgbClr val="1E2761"/>
          </a:solidFill>
          <a:ln w="12700">
            <a:solidFill>
              <a:srgbClr val="333333"/>
            </a:solidFill>
            <a:prstDash val="solid"/>
          </a:ln>
        </p:spPr>
      </p:sp>
      <p:sp>
        <p:nvSpPr>
          <p:cNvPr id="5" name="Text 3"/>
          <p:cNvSpPr txBox="1"/>
          <p:nvPr/>
        </p:nvSpPr>
        <p:spPr>
          <a:xfrm>
            <a:off x="1051560" y="182880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Ruhezeit</a:t>
            </a:r>
            <a:endParaRPr lang="en-US" sz="1500" dirty="0"/>
          </a:p>
        </p:txBody>
      </p:sp>
      <p:sp>
        <p:nvSpPr>
          <p:cNvPr id="6" name="Text 4"/>
          <p:cNvSpPr txBox="1"/>
          <p:nvPr/>
        </p:nvSpPr>
        <p:spPr>
          <a:xfrm>
            <a:off x="1051560" y="212140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11 Stunden zwischen zwei Diensten (§ 5 ArbZG) — schließt den Spät-Früh-Wechsel aus</a:t>
            </a:r>
            <a:endParaRPr lang="en-US" sz="1300" dirty="0"/>
          </a:p>
        </p:txBody>
      </p:sp>
      <p:sp>
        <p:nvSpPr>
          <p:cNvPr id="7" name="Shape 5"/>
          <p:cNvSpPr/>
          <p:nvPr/>
        </p:nvSpPr>
        <p:spPr>
          <a:xfrm>
            <a:off x="640080" y="2935224"/>
            <a:ext cx="237744" cy="237744"/>
          </a:xfrm>
          <a:prstGeom prst="ellipse">
            <a:avLst/>
          </a:prstGeom>
          <a:solidFill>
            <a:srgbClr val="EB6834"/>
          </a:solidFill>
          <a:ln w="12700">
            <a:solidFill>
              <a:srgbClr val="333333"/>
            </a:solidFill>
            <a:prstDash val="solid"/>
          </a:ln>
        </p:spPr>
      </p:sp>
      <p:sp>
        <p:nvSpPr>
          <p:cNvPr id="8" name="Text 6"/>
          <p:cNvSpPr txBox="1"/>
          <p:nvPr/>
        </p:nvSpPr>
        <p:spPr>
          <a:xfrm>
            <a:off x="1051560" y="288036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Pausen und Höchstarbeitszeit</a:t>
            </a:r>
            <a:endParaRPr lang="en-US" sz="1500" dirty="0"/>
          </a:p>
        </p:txBody>
      </p:sp>
      <p:sp>
        <p:nvSpPr>
          <p:cNvPr id="9" name="Text 7"/>
          <p:cNvSpPr txBox="1"/>
          <p:nvPr/>
        </p:nvSpPr>
        <p:spPr>
          <a:xfrm>
            <a:off x="1051560" y="317296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30 bzw. 45 Minuten, werktäglich 8 Stunden (§§ 3, 4 ArbZG)</a:t>
            </a:r>
            <a:endParaRPr lang="en-US" sz="1300" dirty="0"/>
          </a:p>
        </p:txBody>
      </p:sp>
      <p:sp>
        <p:nvSpPr>
          <p:cNvPr id="10" name="Shape 8"/>
          <p:cNvSpPr/>
          <p:nvPr/>
        </p:nvSpPr>
        <p:spPr>
          <a:xfrm>
            <a:off x="640080" y="3986784"/>
            <a:ext cx="237744" cy="237744"/>
          </a:xfrm>
          <a:prstGeom prst="ellipse">
            <a:avLst/>
          </a:prstGeom>
          <a:solidFill>
            <a:srgbClr val="1E2761"/>
          </a:solidFill>
          <a:ln w="12700">
            <a:solidFill>
              <a:srgbClr val="333333"/>
            </a:solidFill>
            <a:prstDash val="solid"/>
          </a:ln>
        </p:spPr>
      </p:sp>
      <p:sp>
        <p:nvSpPr>
          <p:cNvPr id="11" name="Text 9"/>
          <p:cNvSpPr txBox="1"/>
          <p:nvPr/>
        </p:nvSpPr>
        <p:spPr>
          <a:xfrm>
            <a:off x="1051560" y="393192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Mindestbesetzung</a:t>
            </a:r>
            <a:endParaRPr lang="en-US" sz="1500" dirty="0"/>
          </a:p>
        </p:txBody>
      </p:sp>
      <p:sp>
        <p:nvSpPr>
          <p:cNvPr id="12" name="Text 10"/>
          <p:cNvSpPr txBox="1"/>
          <p:nvPr/>
        </p:nvSpPr>
        <p:spPr>
          <a:xfrm>
            <a:off x="1051560" y="422452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10 Patienten je Pflegekraft tags, 22 nachts (PpUGV § 6)</a:t>
            </a:r>
            <a:endParaRPr lang="en-US" sz="1300" dirty="0"/>
          </a:p>
        </p:txBody>
      </p:sp>
      <p:sp>
        <p:nvSpPr>
          <p:cNvPr id="13" name="Shape 11"/>
          <p:cNvSpPr/>
          <p:nvPr/>
        </p:nvSpPr>
        <p:spPr>
          <a:xfrm>
            <a:off x="6400800" y="1883664"/>
            <a:ext cx="237744" cy="237744"/>
          </a:xfrm>
          <a:prstGeom prst="ellipse">
            <a:avLst/>
          </a:prstGeom>
          <a:solidFill>
            <a:srgbClr val="1E2761"/>
          </a:solidFill>
          <a:ln w="12700">
            <a:solidFill>
              <a:srgbClr val="333333"/>
            </a:solidFill>
            <a:prstDash val="solid"/>
          </a:ln>
        </p:spPr>
      </p:sp>
      <p:sp>
        <p:nvSpPr>
          <p:cNvPr id="14" name="Text 12"/>
          <p:cNvSpPr txBox="1"/>
          <p:nvPr/>
        </p:nvSpPr>
        <p:spPr>
          <a:xfrm>
            <a:off x="6812280" y="182880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Qualifikation</a:t>
            </a:r>
            <a:endParaRPr lang="en-US" sz="1500" dirty="0"/>
          </a:p>
        </p:txBody>
      </p:sp>
      <p:sp>
        <p:nvSpPr>
          <p:cNvPr id="15" name="Text 13"/>
          <p:cNvSpPr txBox="1"/>
          <p:nvPr/>
        </p:nvSpPr>
        <p:spPr>
          <a:xfrm>
            <a:off x="6812280" y="212140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höchstens 10 % Pflegehilfskräfte; Auszubildende zählen nicht mit (PpUGV § 2)</a:t>
            </a:r>
            <a:endParaRPr lang="en-US" sz="1300" dirty="0"/>
          </a:p>
        </p:txBody>
      </p:sp>
      <p:sp>
        <p:nvSpPr>
          <p:cNvPr id="16" name="Shape 14"/>
          <p:cNvSpPr/>
          <p:nvPr/>
        </p:nvSpPr>
        <p:spPr>
          <a:xfrm>
            <a:off x="6400800" y="2935224"/>
            <a:ext cx="237744" cy="237744"/>
          </a:xfrm>
          <a:prstGeom prst="ellipse">
            <a:avLst/>
          </a:prstGeom>
          <a:solidFill>
            <a:srgbClr val="EB6834"/>
          </a:solidFill>
          <a:ln w="12700">
            <a:solidFill>
              <a:srgbClr val="333333"/>
            </a:solidFill>
            <a:prstDash val="solid"/>
          </a:ln>
        </p:spPr>
      </p:sp>
      <p:sp>
        <p:nvSpPr>
          <p:cNvPr id="17" name="Text 15"/>
          <p:cNvSpPr txBox="1"/>
          <p:nvPr/>
        </p:nvSpPr>
        <p:spPr>
          <a:xfrm>
            <a:off x="6812280" y="288036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Wechselnde Belegung</a:t>
            </a:r>
            <a:endParaRPr lang="en-US" sz="1500" dirty="0"/>
          </a:p>
        </p:txBody>
      </p:sp>
      <p:sp>
        <p:nvSpPr>
          <p:cNvPr id="18" name="Text 16"/>
          <p:cNvSpPr txBox="1"/>
          <p:nvPr/>
        </p:nvSpPr>
        <p:spPr>
          <a:xfrm>
            <a:off x="6812280" y="317296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Personalbedarf schwankt täglich mit Belegung und Pflegeaufwand</a:t>
            </a:r>
            <a:endParaRPr lang="en-US" sz="1300" dirty="0"/>
          </a:p>
        </p:txBody>
      </p:sp>
      <p:sp>
        <p:nvSpPr>
          <p:cNvPr id="19" name="Shape 17"/>
          <p:cNvSpPr/>
          <p:nvPr/>
        </p:nvSpPr>
        <p:spPr>
          <a:xfrm>
            <a:off x="6400800" y="3986784"/>
            <a:ext cx="237744" cy="237744"/>
          </a:xfrm>
          <a:prstGeom prst="ellipse">
            <a:avLst/>
          </a:prstGeom>
          <a:solidFill>
            <a:srgbClr val="1E2761"/>
          </a:solidFill>
          <a:ln w="12700">
            <a:solidFill>
              <a:srgbClr val="333333"/>
            </a:solidFill>
            <a:prstDash val="solid"/>
          </a:ln>
        </p:spPr>
      </p:sp>
      <p:sp>
        <p:nvSpPr>
          <p:cNvPr id="20" name="Text 18"/>
          <p:cNvSpPr txBox="1"/>
          <p:nvPr/>
        </p:nvSpPr>
        <p:spPr>
          <a:xfrm>
            <a:off x="6812280" y="393192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Kurzfristige Ausfälle</a:t>
            </a:r>
            <a:endParaRPr lang="en-US" sz="1500" dirty="0"/>
          </a:p>
        </p:txBody>
      </p:sp>
      <p:sp>
        <p:nvSpPr>
          <p:cNvPr id="21" name="Text 19"/>
          <p:cNvSpPr txBox="1"/>
          <p:nvPr/>
        </p:nvSpPr>
        <p:spPr>
          <a:xfrm>
            <a:off x="6812280" y="422452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Krankenstand in der Krankenpflege: 28 Fehltage im Jahr</a:t>
            </a:r>
            <a:endParaRPr lang="en-US" sz="1300" dirty="0"/>
          </a:p>
        </p:txBody>
      </p:sp>
      <p:sp>
        <p:nvSpPr>
          <p:cNvPr id="22" name="Text 20"/>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ArbZG · PpUGV · TVöD-K · TK-Gesundheitsreport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4FE"/>
        </a:solidFill>
      </p:bgPr>
    </p:bg>
    <p:spTree>
      <p:nvGrpSpPr>
        <p:cNvPr id="1" name=""/>
        <p:cNvGrpSpPr/>
        <p:nvPr/>
      </p:nvGrpSpPr>
      <p:grpSpPr>
        <a:xfrm>
          <a:off x="0" y="0"/>
          <a:ext cx="0" cy="0"/>
          <a:chOff x="0" y="0"/>
          <a:chExt cx="0" cy="0"/>
        </a:xfrm>
      </p:grpSpPr>
      <p:sp>
        <p:nvSpPr>
          <p:cNvPr id="2" name="Text 0"/>
          <p:cNvSpPr txBox="1"/>
          <p:nvPr/>
        </p:nvSpPr>
        <p:spPr>
          <a:xfrm>
            <a:off x="640080" y="1463040"/>
            <a:ext cx="10881360" cy="457200"/>
          </a:xfrm>
          <a:prstGeom prst="rect">
            <a:avLst/>
          </a:prstGeom>
          <a:noFill/>
          <a:ln/>
        </p:spPr>
        <p:txBody>
          <a:bodyPr wrap="square" lIns="0" tIns="0" rIns="0" bIns="0" rtlCol="0" anchor="ctr"/>
          <a:lstStyle/>
          <a:p>
            <a:pPr indent="0" marL="0">
              <a:buNone/>
            </a:pPr>
            <a:r>
              <a:rPr lang="en-US" sz="1400" b="1" spc="200" kern="0" dirty="0">
                <a:solidFill>
                  <a:srgbClr val="EB6834"/>
                </a:solidFill>
                <a:latin typeface="Calibri" pitchFamily="34" charset="0"/>
                <a:ea typeface="Calibri" pitchFamily="34" charset="-122"/>
                <a:cs typeface="Calibri" pitchFamily="34" charset="-120"/>
              </a:rPr>
              <a:t>Leitfrage</a:t>
            </a:r>
            <a:endParaRPr lang="en-US" sz="1400" dirty="0"/>
          </a:p>
        </p:txBody>
      </p:sp>
      <p:sp>
        <p:nvSpPr>
          <p:cNvPr id="3" name="Text 1"/>
          <p:cNvSpPr txBox="1"/>
          <p:nvPr/>
        </p:nvSpPr>
        <p:spPr>
          <a:xfrm>
            <a:off x="640080" y="1965960"/>
            <a:ext cx="10881360" cy="1645920"/>
          </a:xfrm>
          <a:prstGeom prst="rect">
            <a:avLst/>
          </a:prstGeom>
          <a:noFill/>
          <a:ln/>
        </p:spPr>
        <p:txBody>
          <a:bodyPr wrap="square" lIns="0" tIns="0" rIns="0" bIns="0" rtlCol="0" anchor="ctr"/>
          <a:lstStyle/>
          <a:p>
            <a:pPr indent="0" marL="0">
              <a:lnSpc>
                <a:spcPts val="4000"/>
              </a:lnSpc>
              <a:buNone/>
            </a:pPr>
            <a:r>
              <a:rPr lang="en-US" sz="3000" b="1" dirty="0">
                <a:solidFill>
                  <a:srgbClr val="1E2761"/>
                </a:solidFill>
                <a:latin typeface="Cambria" pitchFamily="34" charset="0"/>
                <a:ea typeface="Cambria" pitchFamily="34" charset="-122"/>
                <a:cs typeface="Cambria" pitchFamily="34" charset="-120"/>
              </a:rPr>
              <a:t>Wie kann eine KI-gestützte Planungsempfehlung die Erstellung und kurzfristige Anpassung eines Schichtplans gegenüber einer regelbasierten Excel-Planung unterstützen?</a:t>
            </a:r>
            <a:endParaRPr lang="en-US" sz="3000" dirty="0"/>
          </a:p>
        </p:txBody>
      </p:sp>
      <p:sp>
        <p:nvSpPr>
          <p:cNvPr id="4" name="Text 2"/>
          <p:cNvSpPr txBox="1"/>
          <p:nvPr/>
        </p:nvSpPr>
        <p:spPr>
          <a:xfrm>
            <a:off x="640080" y="3931920"/>
            <a:ext cx="10881360" cy="822960"/>
          </a:xfrm>
          <a:prstGeom prst="rect">
            <a:avLst/>
          </a:prstGeom>
          <a:noFill/>
          <a:ln/>
        </p:spPr>
        <p:txBody>
          <a:bodyPr wrap="square" lIns="0" tIns="0" rIns="0" bIns="0" rtlCol="0" anchor="ctr"/>
          <a:lstStyle/>
          <a:p>
            <a:pPr indent="0" marL="0">
              <a:lnSpc>
                <a:spcPts val="2400"/>
              </a:lnSpc>
              <a:buNone/>
            </a:pPr>
            <a:r>
              <a:rPr lang="en-US" sz="1600" b="1" dirty="0">
                <a:solidFill>
                  <a:srgbClr val="0B0B0B"/>
                </a:solidFill>
                <a:latin typeface="Calibri" pitchFamily="34" charset="0"/>
                <a:ea typeface="Calibri" pitchFamily="34" charset="-122"/>
                <a:cs typeface="Calibri" pitchFamily="34" charset="-120"/>
              </a:rPr>
              <a:t>Zielsetzung: </a:t>
            </a:r>
            <a:pPr indent="0" marL="0">
              <a:lnSpc>
                <a:spcPts val="2400"/>
              </a:lnSpc>
              <a:buNone/>
            </a:pPr>
            <a:r>
              <a:rPr lang="en-US" sz="1600" dirty="0">
                <a:solidFill>
                  <a:srgbClr val="0B0B0B"/>
                </a:solidFill>
                <a:latin typeface="Calibri" pitchFamily="34" charset="0"/>
                <a:ea typeface="Calibri" pitchFamily="34" charset="-122"/>
                <a:cs typeface="Calibri" pitchFamily="34" charset="-120"/>
              </a:rPr>
              <a:t>ein lauffähiger Prototyp, der beide Verfahren auf identischer Datengrundlage vergleicht — bewertet an nachvollziehbaren Kennzahlen statt an Eindrücken.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Methodenauswahl: warum kein Machine Learning</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Die erste Erkenntnis des Projekts war eine Absage.</a:t>
            </a:r>
            <a:endParaRPr lang="en-US" sz="1500" dirty="0"/>
          </a:p>
        </p:txBody>
      </p:sp>
      <p:sp>
        <p:nvSpPr>
          <p:cNvPr id="4" name="Shape 2"/>
          <p:cNvSpPr/>
          <p:nvPr/>
        </p:nvSpPr>
        <p:spPr>
          <a:xfrm>
            <a:off x="640080" y="1828800"/>
            <a:ext cx="5349240" cy="3200400"/>
          </a:xfrm>
          <a:prstGeom prst="roundRect">
            <a:avLst>
              <a:gd name="adj" fmla="val 2286"/>
            </a:avLst>
          </a:prstGeom>
          <a:solidFill>
            <a:srgbClr val="F7EEEA"/>
          </a:solidFill>
          <a:ln w="12700">
            <a:solidFill>
              <a:srgbClr val="F7EEEA"/>
            </a:solidFill>
            <a:prstDash val="solid"/>
          </a:ln>
          <a:effectLst>
            <a:outerShdw sx="100000" sy="100000" kx="0" ky="0" algn="bl" rotWithShape="0" blurRad="76200" dist="12700" dir="5400000">
              <a:srgbClr val="000000">
                <a:alpha val="10000"/>
              </a:srgbClr>
            </a:outerShdw>
          </a:effectLst>
        </p:spPr>
      </p:sp>
      <p:sp>
        <p:nvSpPr>
          <p:cNvPr id="5" name="Text 3"/>
          <p:cNvSpPr txBox="1"/>
          <p:nvPr/>
        </p:nvSpPr>
        <p:spPr>
          <a:xfrm>
            <a:off x="960120" y="2057400"/>
            <a:ext cx="4709160" cy="365760"/>
          </a:xfrm>
          <a:prstGeom prst="rect">
            <a:avLst/>
          </a:prstGeom>
          <a:noFill/>
          <a:ln/>
        </p:spPr>
        <p:txBody>
          <a:bodyPr wrap="square" lIns="0" tIns="0" rIns="0" bIns="0" rtlCol="0" anchor="ctr"/>
          <a:lstStyle/>
          <a:p>
            <a:pPr indent="0" marL="0">
              <a:buNone/>
            </a:pPr>
            <a:r>
              <a:rPr lang="en-US" sz="1800" b="1" dirty="0">
                <a:solidFill>
                  <a:srgbClr val="EB6834"/>
                </a:solidFill>
                <a:latin typeface="Calibri" pitchFamily="34" charset="0"/>
                <a:ea typeface="Calibri" pitchFamily="34" charset="-122"/>
                <a:cs typeface="Calibri" pitchFamily="34" charset="-120"/>
              </a:rPr>
              <a:t>Machine Learning</a:t>
            </a:r>
            <a:endParaRPr lang="en-US" sz="1800" dirty="0"/>
          </a:p>
        </p:txBody>
      </p:sp>
      <p:sp>
        <p:nvSpPr>
          <p:cNvPr id="6" name="Text 4"/>
          <p:cNvSpPr txBox="1"/>
          <p:nvPr/>
        </p:nvSpPr>
        <p:spPr>
          <a:xfrm>
            <a:off x="960120" y="2514600"/>
            <a:ext cx="4709160" cy="22860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Keine zu lernende Zielvariable</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Keine historischen Planentscheidungen als Trainingsdaten</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Regelkonformität lässt sich nicht „ungefähr“ lernen — sie ist binär</a:t>
            </a:r>
            <a:endParaRPr lang="en-US" sz="1400" dirty="0"/>
          </a:p>
        </p:txBody>
      </p:sp>
      <p:sp>
        <p:nvSpPr>
          <p:cNvPr id="7" name="Shape 5"/>
          <p:cNvSpPr/>
          <p:nvPr/>
        </p:nvSpPr>
        <p:spPr>
          <a:xfrm>
            <a:off x="6309360" y="1828800"/>
            <a:ext cx="5239512" cy="3200400"/>
          </a:xfrm>
          <a:prstGeom prst="roundRect">
            <a:avLst>
              <a:gd name="adj" fmla="val 2286"/>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8" name="Text 6"/>
          <p:cNvSpPr txBox="1"/>
          <p:nvPr/>
        </p:nvSpPr>
        <p:spPr>
          <a:xfrm>
            <a:off x="6629400" y="2057400"/>
            <a:ext cx="4599432" cy="36576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Mathematische Optimierung</a:t>
            </a:r>
            <a:endParaRPr lang="en-US" sz="1800" dirty="0"/>
          </a:p>
        </p:txBody>
      </p:sp>
      <p:sp>
        <p:nvSpPr>
          <p:cNvPr id="9" name="Text 7"/>
          <p:cNvSpPr txBox="1"/>
          <p:nvPr/>
        </p:nvSpPr>
        <p:spPr>
          <a:xfrm>
            <a:off x="6629400" y="2514600"/>
            <a:ext cx="4599432" cy="22860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Zuordnungsproblem unter harten Nebenbedingungen</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Mehrere konkurrierende Ziele — gewichtbar in einer Zielfunktion</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Etabliertes Verfahren für Nurse Rostering (Burke et al. 2004)</a:t>
            </a:r>
            <a:endParaRPr lang="en-US" sz="1400" dirty="0"/>
          </a:p>
        </p:txBody>
      </p:sp>
      <p:sp>
        <p:nvSpPr>
          <p:cNvPr id="10" name="Text 8"/>
          <p:cNvSpPr txBox="1"/>
          <p:nvPr/>
        </p:nvSpPr>
        <p:spPr>
          <a:xfrm>
            <a:off x="640080" y="5257800"/>
            <a:ext cx="10908792" cy="548640"/>
          </a:xfrm>
          <a:prstGeom prst="rect">
            <a:avLst/>
          </a:prstGeom>
          <a:noFill/>
          <a:ln/>
        </p:spPr>
        <p:txBody>
          <a:bodyPr wrap="square" lIns="0" tIns="0" rIns="0" bIns="0" rtlCol="0" anchor="ctr"/>
          <a:lstStyle/>
          <a:p>
            <a:pPr indent="0" marL="0">
              <a:lnSpc>
                <a:spcPts val="2200"/>
              </a:lnSpc>
              <a:buNone/>
            </a:pPr>
            <a:r>
              <a:rPr lang="en-US" sz="1500" dirty="0">
                <a:solidFill>
                  <a:srgbClr val="0B0B0B"/>
                </a:solidFill>
                <a:latin typeface="Calibri" pitchFamily="34" charset="0"/>
                <a:ea typeface="Calibri" pitchFamily="34" charset="-122"/>
                <a:cs typeface="Calibri" pitchFamily="34" charset="-120"/>
              </a:rPr>
              <a:t>Umgesetzt als gemischt-ganzzahliges Modell mit 2.429 Variablen und 4.232 Nebenbedingungen, gelöst mit dem freien Solver HiGHS.</a:t>
            </a:r>
            <a:endParaRPr lang="en-US" sz="1500" dirty="0"/>
          </a:p>
        </p:txBody>
      </p:sp>
      <p:sp>
        <p:nvSpPr>
          <p:cNvPr id="11" name="Text 9"/>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Burke et al. (2004), Journal of Scheduling · Van den Bergh et al. (2013), EJOR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Datengrundlage: synthetisch, aber hergeleitet</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Keine personenbezogenen Daten, keine Gesundheitsdaten — als Konstruktionsprinzip.</a:t>
            </a:r>
            <a:endParaRPr lang="en-US" sz="1500" dirty="0"/>
          </a:p>
        </p:txBody>
      </p:sp>
      <p:sp>
        <p:nvSpPr>
          <p:cNvPr id="4" name="Shape 2"/>
          <p:cNvSpPr/>
          <p:nvPr/>
        </p:nvSpPr>
        <p:spPr>
          <a:xfrm>
            <a:off x="640080" y="1883664"/>
            <a:ext cx="237744" cy="237744"/>
          </a:xfrm>
          <a:prstGeom prst="ellipse">
            <a:avLst/>
          </a:prstGeom>
          <a:solidFill>
            <a:srgbClr val="1E2761"/>
          </a:solidFill>
          <a:ln w="12700">
            <a:solidFill>
              <a:srgbClr val="333333"/>
            </a:solidFill>
            <a:prstDash val="solid"/>
          </a:ln>
        </p:spPr>
      </p:sp>
      <p:sp>
        <p:nvSpPr>
          <p:cNvPr id="5" name="Text 3"/>
          <p:cNvSpPr txBox="1"/>
          <p:nvPr/>
        </p:nvSpPr>
        <p:spPr>
          <a:xfrm>
            <a:off x="1051560" y="1828800"/>
            <a:ext cx="589788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Eine Station, 30 Betten, 23 Mitarbeitende</a:t>
            </a:r>
            <a:endParaRPr lang="en-US" sz="1500" dirty="0"/>
          </a:p>
        </p:txBody>
      </p:sp>
      <p:sp>
        <p:nvSpPr>
          <p:cNvPr id="6" name="Text 4"/>
          <p:cNvSpPr txBox="1"/>
          <p:nvPr/>
        </p:nvSpPr>
        <p:spPr>
          <a:xfrm>
            <a:off x="1051560" y="2121408"/>
            <a:ext cx="589788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28 Planungstage plus 28 Tage Historie, 1.288 Zeilen in einer Datei</a:t>
            </a:r>
            <a:endParaRPr lang="en-US" sz="1300" dirty="0"/>
          </a:p>
        </p:txBody>
      </p:sp>
      <p:sp>
        <p:nvSpPr>
          <p:cNvPr id="7" name="Shape 5"/>
          <p:cNvSpPr/>
          <p:nvPr/>
        </p:nvSpPr>
        <p:spPr>
          <a:xfrm>
            <a:off x="640080" y="3026664"/>
            <a:ext cx="237744" cy="237744"/>
          </a:xfrm>
          <a:prstGeom prst="ellipse">
            <a:avLst/>
          </a:prstGeom>
          <a:solidFill>
            <a:srgbClr val="EB6834"/>
          </a:solidFill>
          <a:ln w="12700">
            <a:solidFill>
              <a:srgbClr val="333333"/>
            </a:solidFill>
            <a:prstDash val="solid"/>
          </a:ln>
        </p:spPr>
      </p:sp>
      <p:sp>
        <p:nvSpPr>
          <p:cNvPr id="8" name="Text 6"/>
          <p:cNvSpPr txBox="1"/>
          <p:nvPr/>
        </p:nvSpPr>
        <p:spPr>
          <a:xfrm>
            <a:off x="1051560" y="2971800"/>
            <a:ext cx="589788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Werte aus dokumentierten Quellen</a:t>
            </a:r>
            <a:endParaRPr lang="en-US" sz="1500" dirty="0"/>
          </a:p>
        </p:txBody>
      </p:sp>
      <p:sp>
        <p:nvSpPr>
          <p:cNvPr id="9" name="Text 7"/>
          <p:cNvSpPr txBox="1"/>
          <p:nvPr/>
        </p:nvSpPr>
        <p:spPr>
          <a:xfrm>
            <a:off x="1051560" y="3264408"/>
            <a:ext cx="589788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Bettenauslastung 72 % und Verweildauer 7,1 Tage (Destatis), Pflegeaufwand nach PPR 2.0, Teilzeit- und Fachkraftquoten</a:t>
            </a:r>
            <a:endParaRPr lang="en-US" sz="1300" dirty="0"/>
          </a:p>
        </p:txBody>
      </p:sp>
      <p:sp>
        <p:nvSpPr>
          <p:cNvPr id="10" name="Shape 8"/>
          <p:cNvSpPr/>
          <p:nvPr/>
        </p:nvSpPr>
        <p:spPr>
          <a:xfrm>
            <a:off x="640080" y="4169664"/>
            <a:ext cx="237744" cy="237744"/>
          </a:xfrm>
          <a:prstGeom prst="ellipse">
            <a:avLst/>
          </a:prstGeom>
          <a:solidFill>
            <a:srgbClr val="1E2761"/>
          </a:solidFill>
          <a:ln w="12700">
            <a:solidFill>
              <a:srgbClr val="333333"/>
            </a:solidFill>
            <a:prstDash val="solid"/>
          </a:ln>
        </p:spPr>
      </p:sp>
      <p:sp>
        <p:nvSpPr>
          <p:cNvPr id="11" name="Text 9"/>
          <p:cNvSpPr txBox="1"/>
          <p:nvPr/>
        </p:nvSpPr>
        <p:spPr>
          <a:xfrm>
            <a:off x="1051560" y="4114800"/>
            <a:ext cx="589788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Belegschaftsgröße gerechnet, nicht geschätzt</a:t>
            </a:r>
            <a:endParaRPr lang="en-US" sz="1500" dirty="0"/>
          </a:p>
        </p:txBody>
      </p:sp>
      <p:sp>
        <p:nvSpPr>
          <p:cNvPr id="12" name="Text 10"/>
          <p:cNvSpPr txBox="1"/>
          <p:nvPr/>
        </p:nvSpPr>
        <p:spPr>
          <a:xfrm>
            <a:off x="1051560" y="4407408"/>
            <a:ext cx="589788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Netto-Bedarf 11,9 Vollkräfte, Ausfallquote 21,9 % → Brutto-Bedarf 15,2 Vollkräfte</a:t>
            </a:r>
            <a:endParaRPr lang="en-US" sz="1300" dirty="0"/>
          </a:p>
        </p:txBody>
      </p:sp>
      <p:sp>
        <p:nvSpPr>
          <p:cNvPr id="13" name="Shape 11"/>
          <p:cNvSpPr/>
          <p:nvPr/>
        </p:nvSpPr>
        <p:spPr>
          <a:xfrm>
            <a:off x="7406640" y="1783080"/>
            <a:ext cx="4142232" cy="3291840"/>
          </a:xfrm>
          <a:prstGeom prst="roundRect">
            <a:avLst>
              <a:gd name="adj" fmla="val 2222"/>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14" name="Text 12"/>
          <p:cNvSpPr txBox="1"/>
          <p:nvPr/>
        </p:nvSpPr>
        <p:spPr>
          <a:xfrm>
            <a:off x="7726680" y="2011680"/>
            <a:ext cx="356616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Datenschutz</a:t>
            </a:r>
            <a:endParaRPr lang="en-US" sz="1700" dirty="0"/>
          </a:p>
        </p:txBody>
      </p:sp>
      <p:sp>
        <p:nvSpPr>
          <p:cNvPr id="15" name="Text 13"/>
          <p:cNvSpPr txBox="1"/>
          <p:nvPr/>
        </p:nvSpPr>
        <p:spPr>
          <a:xfrm>
            <a:off x="7726680" y="2468880"/>
            <a:ext cx="3566160" cy="24688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52514E"/>
                </a:solidFill>
                <a:latin typeface="Calibri" pitchFamily="34" charset="0"/>
                <a:ea typeface="Calibri" pitchFamily="34" charset="-122"/>
                <a:cs typeface="Calibri" pitchFamily="34" charset="-120"/>
              </a:rPr>
              <a:t>Mitarbeitende nur als pseudonyme IDs</a:t>
            </a:r>
            <a:endParaRPr lang="en-US" sz="1300" dirty="0"/>
          </a:p>
          <a:p>
            <a:pPr marL="342900" indent="-342900">
              <a:lnSpc>
                <a:spcPts val="1900"/>
              </a:lnSpc>
              <a:spcAft>
                <a:spcPts val="800"/>
              </a:spcAft>
              <a:buSzPct val="100000"/>
              <a:buChar char="•"/>
            </a:pPr>
            <a:r>
              <a:rPr lang="en-US" sz="1300" dirty="0">
                <a:solidFill>
                  <a:srgbClr val="52514E"/>
                </a:solidFill>
                <a:latin typeface="Calibri" pitchFamily="34" charset="0"/>
                <a:ea typeface="Calibri" pitchFamily="34" charset="-122"/>
                <a:cs typeface="Calibri" pitchFamily="34" charset="-120"/>
              </a:rPr>
              <a:t>Ausfälle sind reine Verfügbarkeit — kein Grund, keine Diagnose, auch nicht aggregiert</a:t>
            </a:r>
            <a:endParaRPr lang="en-US" sz="1300" dirty="0"/>
          </a:p>
          <a:p>
            <a:pPr marL="342900" indent="-342900">
              <a:lnSpc>
                <a:spcPts val="1900"/>
              </a:lnSpc>
              <a:spcAft>
                <a:spcPts val="800"/>
              </a:spcAft>
              <a:buSzPct val="100000"/>
              <a:buChar char="•"/>
            </a:pPr>
            <a:r>
              <a:rPr lang="en-US" sz="1300" dirty="0">
                <a:solidFill>
                  <a:srgbClr val="52514E"/>
                </a:solidFill>
                <a:latin typeface="Calibri" pitchFamily="34" charset="0"/>
                <a:ea typeface="Calibri" pitchFamily="34" charset="-122"/>
                <a:cs typeface="Calibri" pitchFamily="34" charset="-120"/>
              </a:rPr>
              <a:t>Ein Prüfskript verweigert die Freigabe, wenn eine entsprechende Spalte auftaucht</a:t>
            </a:r>
            <a:endParaRPr lang="en-US" sz="1300" dirty="0"/>
          </a:p>
        </p:txBody>
      </p:sp>
      <p:sp>
        <p:nvSpPr>
          <p:cNvPr id="16" name="Text 14"/>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Reproduzierbar über festen Seed · Generator und Prüfskript liegen dem Bericht bei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Der Prototyp</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Zwei Verfahren, dieselben Daten, dieselbe unabhängige Bewertung.</a:t>
            </a:r>
            <a:endParaRPr lang="en-US" sz="1500" dirty="0"/>
          </a:p>
        </p:txBody>
      </p:sp>
      <p:sp>
        <p:nvSpPr>
          <p:cNvPr id="4" name="Shape 2"/>
          <p:cNvSpPr/>
          <p:nvPr/>
        </p:nvSpPr>
        <p:spPr>
          <a:xfrm>
            <a:off x="640080" y="1837944"/>
            <a:ext cx="237744" cy="237744"/>
          </a:xfrm>
          <a:prstGeom prst="ellipse">
            <a:avLst/>
          </a:prstGeom>
          <a:solidFill>
            <a:srgbClr val="1E2761"/>
          </a:solidFill>
          <a:ln w="12700">
            <a:solidFill>
              <a:srgbClr val="333333"/>
            </a:solidFill>
            <a:prstDash val="solid"/>
          </a:ln>
        </p:spPr>
      </p:sp>
      <p:sp>
        <p:nvSpPr>
          <p:cNvPr id="5" name="Text 3"/>
          <p:cNvSpPr txBox="1"/>
          <p:nvPr/>
        </p:nvSpPr>
        <p:spPr>
          <a:xfrm>
            <a:off x="1051560" y="1783080"/>
            <a:ext cx="1046988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Regelbasierte Planung (Baseline)</a:t>
            </a:r>
            <a:endParaRPr lang="en-US" sz="1500" dirty="0"/>
          </a:p>
        </p:txBody>
      </p:sp>
      <p:sp>
        <p:nvSpPr>
          <p:cNvPr id="6" name="Text 4"/>
          <p:cNvSpPr txBox="1"/>
          <p:nvPr/>
        </p:nvSpPr>
        <p:spPr>
          <a:xfrm>
            <a:off x="1051560" y="2075688"/>
            <a:ext cx="1046988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Tag für Tag, Schicht für Schicht die am wenigsten ausgelastete regelkonforme Person — das Vorgehen einer manuellen Excel-Planung</a:t>
            </a:r>
            <a:endParaRPr lang="en-US" sz="1300" dirty="0"/>
          </a:p>
        </p:txBody>
      </p:sp>
      <p:sp>
        <p:nvSpPr>
          <p:cNvPr id="7" name="Shape 5"/>
          <p:cNvSpPr/>
          <p:nvPr/>
        </p:nvSpPr>
        <p:spPr>
          <a:xfrm>
            <a:off x="640080" y="2935224"/>
            <a:ext cx="237744" cy="237744"/>
          </a:xfrm>
          <a:prstGeom prst="ellipse">
            <a:avLst/>
          </a:prstGeom>
          <a:solidFill>
            <a:srgbClr val="EB6834"/>
          </a:solidFill>
          <a:ln w="12700">
            <a:solidFill>
              <a:srgbClr val="333333"/>
            </a:solidFill>
            <a:prstDash val="solid"/>
          </a:ln>
        </p:spPr>
      </p:sp>
      <p:sp>
        <p:nvSpPr>
          <p:cNvPr id="8" name="Text 6"/>
          <p:cNvSpPr txBox="1"/>
          <p:nvPr/>
        </p:nvSpPr>
        <p:spPr>
          <a:xfrm>
            <a:off x="1051560" y="2880360"/>
            <a:ext cx="1046988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MILP-Optimierung</a:t>
            </a:r>
            <a:endParaRPr lang="en-US" sz="1500" dirty="0"/>
          </a:p>
        </p:txBody>
      </p:sp>
      <p:sp>
        <p:nvSpPr>
          <p:cNvPr id="9" name="Text 7"/>
          <p:cNvSpPr txBox="1"/>
          <p:nvPr/>
        </p:nvSpPr>
        <p:spPr>
          <a:xfrm>
            <a:off x="1051560" y="3172968"/>
            <a:ext cx="1046988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betrachtet alle 28 Tage gleichzeitig und kann eine heute ungünstige Zuweisung in Kauf nehmen, wenn sie den Gesamtplan verbessert</a:t>
            </a:r>
            <a:endParaRPr lang="en-US" sz="1300" dirty="0"/>
          </a:p>
        </p:txBody>
      </p:sp>
      <p:sp>
        <p:nvSpPr>
          <p:cNvPr id="10" name="Shape 8"/>
          <p:cNvSpPr/>
          <p:nvPr/>
        </p:nvSpPr>
        <p:spPr>
          <a:xfrm>
            <a:off x="640080" y="4032504"/>
            <a:ext cx="237744" cy="237744"/>
          </a:xfrm>
          <a:prstGeom prst="ellipse">
            <a:avLst/>
          </a:prstGeom>
          <a:solidFill>
            <a:srgbClr val="1E2761"/>
          </a:solidFill>
          <a:ln w="12700">
            <a:solidFill>
              <a:srgbClr val="333333"/>
            </a:solidFill>
            <a:prstDash val="solid"/>
          </a:ln>
        </p:spPr>
      </p:sp>
      <p:sp>
        <p:nvSpPr>
          <p:cNvPr id="11" name="Text 9"/>
          <p:cNvSpPr txBox="1"/>
          <p:nvPr/>
        </p:nvSpPr>
        <p:spPr>
          <a:xfrm>
            <a:off x="1051560" y="3977640"/>
            <a:ext cx="1046988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Reaktive Umplanung</a:t>
            </a:r>
            <a:endParaRPr lang="en-US" sz="1500" dirty="0"/>
          </a:p>
        </p:txBody>
      </p:sp>
      <p:sp>
        <p:nvSpPr>
          <p:cNvPr id="12" name="Text 10"/>
          <p:cNvSpPr txBox="1"/>
          <p:nvPr/>
        </p:nvSpPr>
        <p:spPr>
          <a:xfrm>
            <a:off x="1051560" y="4270248"/>
            <a:ext cx="1046988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hält den bestehenden Plan fest und besetzt nur das Nötige neu, statt den Monat neu zu rechnen</a:t>
            </a:r>
            <a:endParaRPr lang="en-US" sz="1300" dirty="0"/>
          </a:p>
        </p:txBody>
      </p:sp>
      <p:sp>
        <p:nvSpPr>
          <p:cNvPr id="13" name="Shape 11"/>
          <p:cNvSpPr/>
          <p:nvPr/>
        </p:nvSpPr>
        <p:spPr>
          <a:xfrm>
            <a:off x="640080" y="5129784"/>
            <a:ext cx="237744" cy="237744"/>
          </a:xfrm>
          <a:prstGeom prst="ellipse">
            <a:avLst/>
          </a:prstGeom>
          <a:solidFill>
            <a:srgbClr val="EB6834"/>
          </a:solidFill>
          <a:ln w="12700">
            <a:solidFill>
              <a:srgbClr val="333333"/>
            </a:solidFill>
            <a:prstDash val="solid"/>
          </a:ln>
        </p:spPr>
      </p:sp>
      <p:sp>
        <p:nvSpPr>
          <p:cNvPr id="14" name="Text 12"/>
          <p:cNvSpPr txBox="1"/>
          <p:nvPr/>
        </p:nvSpPr>
        <p:spPr>
          <a:xfrm>
            <a:off x="1051560" y="5074920"/>
            <a:ext cx="1046988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Getrennte Prüfinstanz</a:t>
            </a:r>
            <a:endParaRPr lang="en-US" sz="1500" dirty="0"/>
          </a:p>
        </p:txBody>
      </p:sp>
      <p:sp>
        <p:nvSpPr>
          <p:cNvPr id="15" name="Text 13"/>
          <p:cNvSpPr txBox="1"/>
          <p:nvPr/>
        </p:nvSpPr>
        <p:spPr>
          <a:xfrm>
            <a:off x="1051560" y="5367528"/>
            <a:ext cx="1046988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bewertet den fertigen Plan unabhängig vom Verfahren — sonst wäre der Vergleich zirkulär</a:t>
            </a:r>
            <a:endParaRPr lang="en-US" sz="1300" dirty="0"/>
          </a:p>
        </p:txBody>
      </p:sp>
      <p:sp>
        <p:nvSpPr>
          <p:cNvPr id="16" name="Text 14"/>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Lauffähig als Web-Anwendung; Rechenzeit 8–15 Sekunden je Monatsplan, unter einer Sekunde je Umplanung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Versuchsaufbau</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Eine einzelne Instanz beweist nichts — also 15 davon.</a:t>
            </a:r>
            <a:endParaRPr lang="en-US" sz="1500" dirty="0"/>
          </a:p>
        </p:txBody>
      </p:sp>
      <p:sp>
        <p:nvSpPr>
          <p:cNvPr id="4" name="Shape 2"/>
          <p:cNvSpPr/>
          <p:nvPr/>
        </p:nvSpPr>
        <p:spPr>
          <a:xfrm>
            <a:off x="640080" y="1828800"/>
            <a:ext cx="2514600"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5" name="Text 3"/>
          <p:cNvSpPr txBox="1"/>
          <p:nvPr/>
        </p:nvSpPr>
        <p:spPr>
          <a:xfrm>
            <a:off x="868680" y="2029968"/>
            <a:ext cx="205740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5</a:t>
            </a:r>
            <a:endParaRPr lang="en-US" sz="4600" dirty="0"/>
          </a:p>
        </p:txBody>
      </p:sp>
      <p:sp>
        <p:nvSpPr>
          <p:cNvPr id="6" name="Text 4"/>
          <p:cNvSpPr txBox="1"/>
          <p:nvPr/>
        </p:nvSpPr>
        <p:spPr>
          <a:xfrm>
            <a:off x="868680" y="2816352"/>
            <a:ext cx="2057400"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Zufallsseeds:</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andere Belegung, Belegschaft, Ausfälle</a:t>
            </a:r>
            <a:endParaRPr lang="en-US" sz="1300" dirty="0"/>
          </a:p>
        </p:txBody>
      </p:sp>
      <p:sp>
        <p:nvSpPr>
          <p:cNvPr id="7" name="Shape 5"/>
          <p:cNvSpPr/>
          <p:nvPr/>
        </p:nvSpPr>
        <p:spPr>
          <a:xfrm>
            <a:off x="3383280" y="1828800"/>
            <a:ext cx="2514600"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8" name="Text 6"/>
          <p:cNvSpPr txBox="1"/>
          <p:nvPr/>
        </p:nvSpPr>
        <p:spPr>
          <a:xfrm>
            <a:off x="3611880" y="2029968"/>
            <a:ext cx="205740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3</a:t>
            </a:r>
            <a:endParaRPr lang="en-US" sz="4600" dirty="0"/>
          </a:p>
        </p:txBody>
      </p:sp>
      <p:sp>
        <p:nvSpPr>
          <p:cNvPr id="9" name="Text 7"/>
          <p:cNvSpPr txBox="1"/>
          <p:nvPr/>
        </p:nvSpPr>
        <p:spPr>
          <a:xfrm>
            <a:off x="3611880" y="2816352"/>
            <a:ext cx="2057400"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Personaldecken:</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100 %, 90 %, 80 % des Bedarfs</a:t>
            </a:r>
            <a:endParaRPr lang="en-US" sz="1300" dirty="0"/>
          </a:p>
        </p:txBody>
      </p:sp>
      <p:sp>
        <p:nvSpPr>
          <p:cNvPr id="10" name="Shape 8"/>
          <p:cNvSpPr/>
          <p:nvPr/>
        </p:nvSpPr>
        <p:spPr>
          <a:xfrm>
            <a:off x="6126480" y="1828800"/>
            <a:ext cx="2514600"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11" name="Text 9"/>
          <p:cNvSpPr txBox="1"/>
          <p:nvPr/>
        </p:nvSpPr>
        <p:spPr>
          <a:xfrm>
            <a:off x="6355080" y="2029968"/>
            <a:ext cx="205740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3</a:t>
            </a:r>
            <a:endParaRPr lang="en-US" sz="4600" dirty="0"/>
          </a:p>
        </p:txBody>
      </p:sp>
      <p:sp>
        <p:nvSpPr>
          <p:cNvPr id="12" name="Text 10"/>
          <p:cNvSpPr txBox="1"/>
          <p:nvPr/>
        </p:nvSpPr>
        <p:spPr>
          <a:xfrm>
            <a:off x="6355080" y="2816352"/>
            <a:ext cx="2057400"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Ausfallszenarien:</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keine, verteilt, Ausfallwelle</a:t>
            </a:r>
            <a:endParaRPr lang="en-US" sz="1300" dirty="0"/>
          </a:p>
        </p:txBody>
      </p:sp>
      <p:sp>
        <p:nvSpPr>
          <p:cNvPr id="13" name="Shape 11"/>
          <p:cNvSpPr/>
          <p:nvPr/>
        </p:nvSpPr>
        <p:spPr>
          <a:xfrm>
            <a:off x="8869680" y="1828800"/>
            <a:ext cx="2679192" cy="1691640"/>
          </a:xfrm>
          <a:prstGeom prst="roundRect">
            <a:avLst>
              <a:gd name="adj" fmla="val 4324"/>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14" name="Text 12"/>
          <p:cNvSpPr txBox="1"/>
          <p:nvPr/>
        </p:nvSpPr>
        <p:spPr>
          <a:xfrm>
            <a:off x="9098280" y="2029968"/>
            <a:ext cx="2221992" cy="777240"/>
          </a:xfrm>
          <a:prstGeom prst="rect">
            <a:avLst/>
          </a:prstGeom>
          <a:noFill/>
          <a:ln/>
        </p:spPr>
        <p:txBody>
          <a:bodyPr wrap="square" lIns="0" tIns="0" rIns="0" bIns="0" rtlCol="0" anchor="ctr"/>
          <a:lstStyle/>
          <a:p>
            <a:pPr indent="0" marL="0">
              <a:buNone/>
            </a:pPr>
            <a:r>
              <a:rPr lang="en-US" sz="4600" b="1" dirty="0">
                <a:solidFill>
                  <a:srgbClr val="EB6834"/>
                </a:solidFill>
                <a:latin typeface="Cambria" pitchFamily="34" charset="0"/>
                <a:ea typeface="Cambria" pitchFamily="34" charset="-122"/>
                <a:cs typeface="Cambria" pitchFamily="34" charset="-120"/>
              </a:rPr>
              <a:t>270</a:t>
            </a:r>
            <a:endParaRPr lang="en-US" sz="4600" dirty="0"/>
          </a:p>
        </p:txBody>
      </p:sp>
      <p:sp>
        <p:nvSpPr>
          <p:cNvPr id="15" name="Text 13"/>
          <p:cNvSpPr txBox="1"/>
          <p:nvPr/>
        </p:nvSpPr>
        <p:spPr>
          <a:xfrm>
            <a:off x="9098280" y="2816352"/>
            <a:ext cx="2221992" cy="594360"/>
          </a:xfrm>
          <a:prstGeom prst="rect">
            <a:avLst/>
          </a:prstGeom>
          <a:noFill/>
          <a:ln/>
        </p:spPr>
        <p:txBody>
          <a:bodyPr wrap="square" lIns="0" tIns="0" rIns="0" bIns="0" rtlCol="0" anchor="ctr"/>
          <a:lstStyle/>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Pläne insgesamt,</a:t>
            </a:r>
            <a:endParaRPr lang="en-US" sz="1300" dirty="0"/>
          </a:p>
          <a:p>
            <a:pPr indent="0" marL="0">
              <a:lnSpc>
                <a:spcPts val="1600"/>
              </a:lnSpc>
              <a:buNone/>
            </a:pPr>
            <a:r>
              <a:rPr lang="en-US" sz="1300" dirty="0">
                <a:solidFill>
                  <a:srgbClr val="52514E"/>
                </a:solidFill>
                <a:latin typeface="Calibri" pitchFamily="34" charset="0"/>
                <a:ea typeface="Calibri" pitchFamily="34" charset="-122"/>
                <a:cs typeface="Calibri" pitchFamily="34" charset="-120"/>
              </a:rPr>
              <a:t>sechs Verfahrensvarianten</a:t>
            </a:r>
            <a:endParaRPr lang="en-US" sz="1300" dirty="0"/>
          </a:p>
        </p:txBody>
      </p:sp>
      <p:sp>
        <p:nvSpPr>
          <p:cNvPr id="16" name="Text 14"/>
          <p:cNvSpPr txBox="1"/>
          <p:nvPr/>
        </p:nvSpPr>
        <p:spPr>
          <a:xfrm>
            <a:off x="640080" y="4023360"/>
            <a:ext cx="10908792" cy="1097280"/>
          </a:xfrm>
          <a:prstGeom prst="rect">
            <a:avLst/>
          </a:prstGeom>
          <a:noFill/>
          <a:ln/>
        </p:spPr>
        <p:txBody>
          <a:bodyPr wrap="square" lIns="0" tIns="0" rIns="0" bIns="0" rtlCol="0" anchor="ctr"/>
          <a:lstStyle/>
          <a:p>
            <a:pPr indent="0" marL="0">
              <a:lnSpc>
                <a:spcPts val="2200"/>
              </a:lnSpc>
              <a:buNone/>
            </a:pPr>
            <a:r>
              <a:rPr lang="en-US" sz="1500" dirty="0">
                <a:solidFill>
                  <a:srgbClr val="0B0B0B"/>
                </a:solidFill>
                <a:latin typeface="Calibri" pitchFamily="34" charset="0"/>
                <a:ea typeface="Calibri" pitchFamily="34" charset="-122"/>
                <a:cs typeface="Calibri" pitchFamily="34" charset="-120"/>
              </a:rPr>
              <a:t>Die Personaldecke steuert, ob die Aufgabe überhaupt lösbar ist — ohne diese Variation hätten wir nur gemessen, dass beide Verfahren eine leichte Aufgabe lösen. Die beiden Ausfallszenarien tragen bewusst dasselbe Ausfallvolumen und unterscheiden sich nur in der Struktur: verteilte Einzeltage gegen mehrtägige Episoden in einer Welle. Nur so ist ein Unterschied der Struktur zuzurechnen und nicht dem Umfang.</a:t>
            </a:r>
            <a:endParaRPr lang="en-US" sz="1500" dirty="0"/>
          </a:p>
        </p:txBody>
      </p:sp>
      <p:sp>
        <p:nvSpPr>
          <p:cNvPr id="17" name="Text 15"/>
          <p:cNvSpPr txBox="1"/>
          <p:nvPr/>
        </p:nvSpPr>
        <p:spPr>
          <a:xfrm>
            <a:off x="640080" y="6327648"/>
            <a:ext cx="10908792" cy="32004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Alle Rohergebnisse in evaluation_results.csv, eine Zeile je Plan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Ergebnis 1: Regelkonformität unter Knappheit</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Bei bedarfsgerechter Besetzung sind beide nahezu gleich regelkonform. Der Unterschied entsteht, wenn es eng wird.</a:t>
            </a:r>
            <a:endParaRPr lang="en-US" sz="1500" dirty="0"/>
          </a:p>
        </p:txBody>
      </p:sp>
      <p:pic>
        <p:nvPicPr>
          <p:cNvPr id="4" name="Image 0" descr="/home/claude/careplan/abbildungen/01_regelkonformitaet.png">    </p:cNvPr>
          <p:cNvPicPr>
            <a:picLocks noChangeAspect="1"/>
          </p:cNvPicPr>
          <p:nvPr/>
        </p:nvPicPr>
        <p:blipFill>
          <a:blip r:embed="rId1"/>
          <a:stretch>
            <a:fillRect/>
          </a:stretch>
        </p:blipFill>
        <p:spPr>
          <a:xfrm>
            <a:off x="640080" y="1691640"/>
            <a:ext cx="6057991" cy="4434840"/>
          </a:xfrm>
          <a:prstGeom prst="rect">
            <a:avLst/>
          </a:prstGeom>
        </p:spPr>
      </p:pic>
      <p:sp>
        <p:nvSpPr>
          <p:cNvPr id="5" name="Shape 2"/>
          <p:cNvSpPr/>
          <p:nvPr/>
        </p:nvSpPr>
        <p:spPr>
          <a:xfrm>
            <a:off x="7109551" y="1691640"/>
            <a:ext cx="4439321" cy="4434840"/>
          </a:xfrm>
          <a:prstGeom prst="roundRect">
            <a:avLst>
              <a:gd name="adj" fmla="val 164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6" name="Text 3"/>
          <p:cNvSpPr txBox="1"/>
          <p:nvPr/>
        </p:nvSpPr>
        <p:spPr>
          <a:xfrm>
            <a:off x="7383871" y="1920240"/>
            <a:ext cx="3890681"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Bei 80 % Personaldecke</a:t>
            </a:r>
            <a:endParaRPr lang="en-US" sz="1500" dirty="0"/>
          </a:p>
        </p:txBody>
      </p:sp>
      <p:sp>
        <p:nvSpPr>
          <p:cNvPr id="7" name="Text 4"/>
          <p:cNvSpPr txBox="1"/>
          <p:nvPr/>
        </p:nvSpPr>
        <p:spPr>
          <a:xfrm>
            <a:off x="7383871" y="2240280"/>
            <a:ext cx="3890681"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war kein einziger Plan der Baseline vollständig regelkonform — gegenüber 100 % der optimierten Pläne.</a:t>
            </a:r>
            <a:endParaRPr lang="en-US" sz="1300" dirty="0"/>
          </a:p>
        </p:txBody>
      </p:sp>
      <p:sp>
        <p:nvSpPr>
          <p:cNvPr id="8" name="Text 5"/>
          <p:cNvSpPr txBox="1"/>
          <p:nvPr/>
        </p:nvSpPr>
        <p:spPr>
          <a:xfrm>
            <a:off x="7383871" y="3154680"/>
            <a:ext cx="3890681"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Im Mittel 6,5 Untergrenzen­verstöße je Plan</a:t>
            </a:r>
            <a:endParaRPr lang="en-US" sz="1500" dirty="0"/>
          </a:p>
        </p:txBody>
      </p:sp>
      <p:sp>
        <p:nvSpPr>
          <p:cNvPr id="9" name="Text 6"/>
          <p:cNvSpPr txBox="1"/>
          <p:nvPr/>
        </p:nvSpPr>
        <p:spPr>
          <a:xfrm>
            <a:off x="7383871" y="3474720"/>
            <a:ext cx="3890681"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gegenüber null. Das ist ein Rechtsrisiko nach § 137i SGB V, kein Qualitätsdetail.</a:t>
            </a:r>
            <a:endParaRPr lang="en-US" sz="1300" dirty="0"/>
          </a:p>
        </p:txBody>
      </p:sp>
      <p:sp>
        <p:nvSpPr>
          <p:cNvPr id="10" name="Text 7"/>
          <p:cNvSpPr txBox="1"/>
          <p:nvPr/>
        </p:nvSpPr>
        <p:spPr>
          <a:xfrm>
            <a:off x="7383871" y="4389120"/>
            <a:ext cx="3890681"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Besetzungsquote</a:t>
            </a:r>
            <a:endParaRPr lang="en-US" sz="1500" dirty="0"/>
          </a:p>
        </p:txBody>
      </p:sp>
      <p:sp>
        <p:nvSpPr>
          <p:cNvPr id="11" name="Text 8"/>
          <p:cNvSpPr txBox="1"/>
          <p:nvPr/>
        </p:nvSpPr>
        <p:spPr>
          <a:xfrm>
            <a:off x="7383871" y="4709160"/>
            <a:ext cx="3890681"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93,9 % gegenüber 99,7 % — 113 unbesetzte Dienste gegenüber 10, und diese 10 alle oberhalb der Untergrenze.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Ergebnis 2: Vier von zehn arbeiten jedes Wochenende</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Gleiche Daten, gleiche Regeln — und schon bei bedarfsgerechter Decke ein völlig anderer Monat.</a:t>
            </a:r>
            <a:endParaRPr lang="en-US" sz="1500" dirty="0"/>
          </a:p>
        </p:txBody>
      </p:sp>
      <p:pic>
        <p:nvPicPr>
          <p:cNvPr id="4" name="Image 0" descr="/home/claude/careplan/abbildungen/04_lastverteilung.png">    </p:cNvPr>
          <p:cNvPicPr>
            <a:picLocks noChangeAspect="1"/>
          </p:cNvPicPr>
          <p:nvPr/>
        </p:nvPicPr>
        <p:blipFill>
          <a:blip r:embed="rId1"/>
          <a:stretch>
            <a:fillRect/>
          </a:stretch>
        </p:blipFill>
        <p:spPr>
          <a:xfrm>
            <a:off x="640080" y="1691640"/>
            <a:ext cx="7315200" cy="3293652"/>
          </a:xfrm>
          <a:prstGeom prst="rect">
            <a:avLst/>
          </a:prstGeom>
        </p:spPr>
      </p:pic>
      <p:sp>
        <p:nvSpPr>
          <p:cNvPr id="5" name="Shape 2"/>
          <p:cNvSpPr/>
          <p:nvPr/>
        </p:nvSpPr>
        <p:spPr>
          <a:xfrm>
            <a:off x="8366760" y="1691640"/>
            <a:ext cx="3182112" cy="4069080"/>
          </a:xfrm>
          <a:prstGeom prst="roundRect">
            <a:avLst>
              <a:gd name="adj" fmla="val 229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6" name="Text 3"/>
          <p:cNvSpPr txBox="1"/>
          <p:nvPr/>
        </p:nvSpPr>
        <p:spPr>
          <a:xfrm>
            <a:off x="8641080" y="192024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41 % gegen 0,3 %</a:t>
            </a:r>
            <a:endParaRPr lang="en-US" sz="1500" dirty="0"/>
          </a:p>
        </p:txBody>
      </p:sp>
      <p:sp>
        <p:nvSpPr>
          <p:cNvPr id="7" name="Text 4"/>
          <p:cNvSpPr txBox="1"/>
          <p:nvPr/>
        </p:nvSpPr>
        <p:spPr>
          <a:xfrm>
            <a:off x="8641080" y="224028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So groß ist der Anteil der Belegschaft, der in den Plänen der Heuristik an allen vier Wochenenden im Dienst ist.</a:t>
            </a:r>
            <a:endParaRPr lang="en-US" sz="1300" dirty="0"/>
          </a:p>
        </p:txBody>
      </p:sp>
      <p:sp>
        <p:nvSpPr>
          <p:cNvPr id="8" name="Text 5"/>
          <p:cNvSpPr txBox="1"/>
          <p:nvPr/>
        </p:nvSpPr>
        <p:spPr>
          <a:xfrm>
            <a:off x="8641080" y="315468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Kein Machbarkeitsproblem</a:t>
            </a:r>
            <a:endParaRPr lang="en-US" sz="1500" dirty="0"/>
          </a:p>
        </p:txBody>
      </p:sp>
      <p:sp>
        <p:nvSpPr>
          <p:cNvPr id="9" name="Text 6"/>
          <p:cNvSpPr txBox="1"/>
          <p:nvPr/>
        </p:nvSpPr>
        <p:spPr>
          <a:xfrm>
            <a:off x="8641080" y="347472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Auf denselben Daten findet die Optimierung eine Verteilung, in der 88 % genau auf dem Richtwert von zwei Wochenenden liegen.</a:t>
            </a:r>
            <a:endParaRPr lang="en-US" sz="1300" dirty="0"/>
          </a:p>
        </p:txBody>
      </p:sp>
      <p:sp>
        <p:nvSpPr>
          <p:cNvPr id="10" name="Text 7"/>
          <p:cNvSpPr txBox="1"/>
          <p:nvPr/>
        </p:nvSpPr>
        <p:spPr>
          <a:xfrm>
            <a:off x="8641080" y="438912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Warum</a:t>
            </a:r>
            <a:endParaRPr lang="en-US" sz="1500" dirty="0"/>
          </a:p>
        </p:txBody>
      </p:sp>
      <p:sp>
        <p:nvSpPr>
          <p:cNvPr id="11" name="Text 8"/>
          <p:cNvSpPr txBox="1"/>
          <p:nvPr/>
        </p:nvSpPr>
        <p:spPr>
          <a:xfrm>
            <a:off x="8641080" y="470916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Bei der Heuristik ist der Richtwert nur ein Sortierkriterium. Sie nimmt keine Entscheidung zurück — aus der Schieflage gibt es keinen Weg heraus.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Ergebnis 3: Reaktion auf kurzfristige Ausfälle</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Zwei Befunde — einer über die Zielfunktion, einer über die Messung selbst.</a:t>
            </a:r>
            <a:endParaRPr lang="en-US" sz="1500" dirty="0"/>
          </a:p>
        </p:txBody>
      </p:sp>
      <p:pic>
        <p:nvPicPr>
          <p:cNvPr id="4" name="Image 0" descr="/home/claude/careplan/abbildungen/03_planstabilitaet.png">    </p:cNvPr>
          <p:cNvPicPr>
            <a:picLocks noChangeAspect="1"/>
          </p:cNvPicPr>
          <p:nvPr/>
        </p:nvPicPr>
        <p:blipFill>
          <a:blip r:embed="rId1"/>
          <a:stretch>
            <a:fillRect/>
          </a:stretch>
        </p:blipFill>
        <p:spPr>
          <a:xfrm>
            <a:off x="640080" y="1691640"/>
            <a:ext cx="7315200" cy="3652122"/>
          </a:xfrm>
          <a:prstGeom prst="rect">
            <a:avLst/>
          </a:prstGeom>
        </p:spPr>
      </p:pic>
      <p:sp>
        <p:nvSpPr>
          <p:cNvPr id="5" name="Shape 2"/>
          <p:cNvSpPr/>
          <p:nvPr/>
        </p:nvSpPr>
        <p:spPr>
          <a:xfrm>
            <a:off x="8366760" y="1691640"/>
            <a:ext cx="3182112" cy="4069080"/>
          </a:xfrm>
          <a:prstGeom prst="roundRect">
            <a:avLst>
              <a:gd name="adj" fmla="val 229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6" name="Text 3"/>
          <p:cNvSpPr txBox="1"/>
          <p:nvPr/>
        </p:nvSpPr>
        <p:spPr>
          <a:xfrm>
            <a:off x="8641080" y="192024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Links: die Zielfunktion</a:t>
            </a:r>
            <a:endParaRPr lang="en-US" sz="1500" dirty="0"/>
          </a:p>
        </p:txBody>
      </p:sp>
      <p:sp>
        <p:nvSpPr>
          <p:cNvPr id="7" name="Text 4"/>
          <p:cNvSpPr txBox="1"/>
          <p:nvPr/>
        </p:nvSpPr>
        <p:spPr>
          <a:xfrm>
            <a:off x="8641080" y="224028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Neu zu optimieren erhält nur rund ein Viertel der Dienste. Erst mit „möglichst wenig ändern“ im Modell steigt der Wert auf 92 %.</a:t>
            </a:r>
            <a:endParaRPr lang="en-US" sz="1300" dirty="0"/>
          </a:p>
        </p:txBody>
      </p:sp>
      <p:sp>
        <p:nvSpPr>
          <p:cNvPr id="8" name="Text 5"/>
          <p:cNvSpPr txBox="1"/>
          <p:nvPr/>
        </p:nvSpPr>
        <p:spPr>
          <a:xfrm>
            <a:off x="8641080" y="315468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Rechts: der Alltag</a:t>
            </a:r>
            <a:endParaRPr lang="en-US" sz="1500" dirty="0"/>
          </a:p>
        </p:txBody>
      </p:sp>
      <p:sp>
        <p:nvSpPr>
          <p:cNvPr id="9" name="Text 6"/>
          <p:cNvSpPr txBox="1"/>
          <p:nvPr/>
        </p:nvSpPr>
        <p:spPr>
          <a:xfrm>
            <a:off x="8641080" y="347472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Excel-Welt gegen KI-Welt: 22,8 statt 30,3 geänderte Dienste je Monat mit Ausfällen — ein Viertel weniger Umstellungen.</a:t>
            </a:r>
            <a:endParaRPr lang="en-US" sz="1300" dirty="0"/>
          </a:p>
        </p:txBody>
      </p:sp>
      <p:sp>
        <p:nvSpPr>
          <p:cNvPr id="10" name="Text 7"/>
          <p:cNvSpPr txBox="1"/>
          <p:nvPr/>
        </p:nvSpPr>
        <p:spPr>
          <a:xfrm>
            <a:off x="8641080" y="438912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Gegengeprüft</a:t>
            </a:r>
            <a:endParaRPr lang="en-US" sz="1500" dirty="0"/>
          </a:p>
        </p:txBody>
      </p:sp>
      <p:sp>
        <p:nvSpPr>
          <p:cNvPr id="11" name="Text 8"/>
          <p:cNvSpPr txBox="1"/>
          <p:nvPr/>
        </p:nvSpPr>
        <p:spPr>
          <a:xfrm>
            <a:off x="8641080" y="470916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Beide denselben Plan reparieren lassen: 92,4 % gegen 88,2 %. Nur aus einer Hand sinkt die Zahl auf 22,8.</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Ergebnis 4: Der Zielkonflikt, den Excel nicht sichtbar macht</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Gleichmäßige Last oder stabiler Plan — die Gewichtung entscheidet, wie viel man von beidem bekommt.</a:t>
            </a:r>
            <a:endParaRPr lang="en-US" sz="1500" dirty="0"/>
          </a:p>
        </p:txBody>
      </p:sp>
      <p:pic>
        <p:nvPicPr>
          <p:cNvPr id="4" name="Image 0" descr="/home/claude/careplan/abbildungen/05_zielkonflikt.png">    </p:cNvPr>
          <p:cNvPicPr>
            <a:picLocks noChangeAspect="1"/>
          </p:cNvPicPr>
          <p:nvPr/>
        </p:nvPicPr>
        <p:blipFill>
          <a:blip r:embed="rId1"/>
          <a:stretch>
            <a:fillRect/>
          </a:stretch>
        </p:blipFill>
        <p:spPr>
          <a:xfrm>
            <a:off x="640080" y="1691640"/>
            <a:ext cx="7315200" cy="3960585"/>
          </a:xfrm>
          <a:prstGeom prst="rect">
            <a:avLst/>
          </a:prstGeom>
        </p:spPr>
      </p:pic>
      <p:sp>
        <p:nvSpPr>
          <p:cNvPr id="5" name="Shape 2"/>
          <p:cNvSpPr/>
          <p:nvPr/>
        </p:nvSpPr>
        <p:spPr>
          <a:xfrm>
            <a:off x="8366760" y="1691640"/>
            <a:ext cx="3182112" cy="4069080"/>
          </a:xfrm>
          <a:prstGeom prst="roundRect">
            <a:avLst>
              <a:gd name="adj" fmla="val 2299"/>
            </a:avLst>
          </a:prstGeom>
          <a:solidFill>
            <a:srgbClr val="EEF4FE"/>
          </a:solidFill>
          <a:ln w="12700">
            <a:solidFill>
              <a:srgbClr val="EEF4FE"/>
            </a:solidFill>
            <a:prstDash val="solid"/>
          </a:ln>
          <a:effectLst>
            <a:outerShdw sx="100000" sy="100000" kx="0" ky="0" algn="bl" rotWithShape="0" blurRad="76200" dist="12700" dir="5400000">
              <a:srgbClr val="000000">
                <a:alpha val="10000"/>
              </a:srgbClr>
            </a:outerShdw>
          </a:effectLst>
        </p:spPr>
      </p:sp>
      <p:sp>
        <p:nvSpPr>
          <p:cNvPr id="6" name="Text 3"/>
          <p:cNvSpPr txBox="1"/>
          <p:nvPr/>
        </p:nvSpPr>
        <p:spPr>
          <a:xfrm>
            <a:off x="8641080" y="192024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Vorn bleibt die Optimierung</a:t>
            </a:r>
            <a:endParaRPr lang="en-US" sz="1500" dirty="0"/>
          </a:p>
        </p:txBody>
      </p:sp>
      <p:sp>
        <p:nvSpPr>
          <p:cNvPr id="7" name="Text 4"/>
          <p:cNvSpPr txBox="1"/>
          <p:nvPr/>
        </p:nvSpPr>
        <p:spPr>
          <a:xfrm>
            <a:off x="8641080" y="224028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Unter der Welle liegt ihre Spanne bei 19 Punkten (Neuplanung) oder 26 (reaktiv). Die Heuristik liegt reaktiv bei 32.</a:t>
            </a:r>
            <a:endParaRPr lang="en-US" sz="1300" dirty="0"/>
          </a:p>
        </p:txBody>
      </p:sp>
      <p:sp>
        <p:nvSpPr>
          <p:cNvPr id="8" name="Text 5"/>
          <p:cNvSpPr txBox="1"/>
          <p:nvPr/>
        </p:nvSpPr>
        <p:spPr>
          <a:xfrm>
            <a:off x="8641080" y="315468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Die Differenz ist die Zielfunktion</a:t>
            </a:r>
            <a:endParaRPr lang="en-US" sz="1500" dirty="0"/>
          </a:p>
        </p:txBody>
      </p:sp>
      <p:sp>
        <p:nvSpPr>
          <p:cNvPr id="9" name="Text 6"/>
          <p:cNvSpPr txBox="1"/>
          <p:nvPr/>
        </p:nvSpPr>
        <p:spPr>
          <a:xfrm>
            <a:off x="8641080" y="347472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Gewicht 200 für „nicht ändern“ gegen 0,02 für Lastausgleich. Der Schritt von 19 auf 26 Punkte ist der Preis der Planungsruhe.</a:t>
            </a:r>
            <a:endParaRPr lang="en-US" sz="1300" dirty="0"/>
          </a:p>
        </p:txBody>
      </p:sp>
      <p:sp>
        <p:nvSpPr>
          <p:cNvPr id="10" name="Text 7"/>
          <p:cNvSpPr txBox="1"/>
          <p:nvPr/>
        </p:nvSpPr>
        <p:spPr>
          <a:xfrm>
            <a:off x="8641080" y="4389120"/>
            <a:ext cx="2633472"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Eine Führungsfrage</a:t>
            </a:r>
            <a:endParaRPr lang="en-US" sz="1500" dirty="0"/>
          </a:p>
        </p:txBody>
      </p:sp>
      <p:sp>
        <p:nvSpPr>
          <p:cNvPr id="11" name="Text 8"/>
          <p:cNvSpPr txBox="1"/>
          <p:nvPr/>
        </p:nvSpPr>
        <p:spPr>
          <a:xfrm>
            <a:off x="8641080" y="4709160"/>
            <a:ext cx="2633472" cy="822960"/>
          </a:xfrm>
          <a:prstGeom prst="rect">
            <a:avLst/>
          </a:prstGeom>
          <a:noFill/>
          <a:ln/>
        </p:spPr>
        <p:txBody>
          <a:bodyPr wrap="square" lIns="0" tIns="0" rIns="0" bIns="0" rtlCol="0" anchor="ctr"/>
          <a:lstStyle/>
          <a:p>
            <a:pPr indent="0" marL="0">
              <a:lnSpc>
                <a:spcPts val="1700"/>
              </a:lnSpc>
              <a:buNone/>
            </a:pPr>
            <a:r>
              <a:rPr lang="en-US" sz="1300" dirty="0">
                <a:solidFill>
                  <a:srgbClr val="52514E"/>
                </a:solidFill>
                <a:latin typeface="Calibri" pitchFamily="34" charset="0"/>
                <a:ea typeface="Calibri" pitchFamily="34" charset="-122"/>
                <a:cs typeface="Calibri" pitchFamily="34" charset="-120"/>
              </a:rPr>
              <a:t>Welches Ziel schwerer wiegt, entscheidet nicht das Verfahren. Der Prototyp macht den Preis beider Optionen sichtbar.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Business Impact</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Strikt getrennt: was wir gemessen haben und was wir nur vermuten.</a:t>
            </a:r>
            <a:endParaRPr lang="en-US" sz="1500" dirty="0"/>
          </a:p>
        </p:txBody>
      </p:sp>
      <p:sp>
        <p:nvSpPr>
          <p:cNvPr id="4" name="Shape 2"/>
          <p:cNvSpPr/>
          <p:nvPr/>
        </p:nvSpPr>
        <p:spPr>
          <a:xfrm>
            <a:off x="640080" y="1828800"/>
            <a:ext cx="5349240" cy="3566160"/>
          </a:xfrm>
          <a:prstGeom prst="roundRect">
            <a:avLst>
              <a:gd name="adj" fmla="val 2051"/>
            </a:avLst>
          </a:prstGeom>
          <a:solidFill>
            <a:srgbClr val="E8F1E8"/>
          </a:solidFill>
          <a:ln w="12700">
            <a:solidFill>
              <a:srgbClr val="E8F1E8"/>
            </a:solidFill>
            <a:prstDash val="solid"/>
          </a:ln>
          <a:effectLst>
            <a:outerShdw sx="100000" sy="100000" kx="0" ky="0" algn="bl" rotWithShape="0" blurRad="76200" dist="12700" dir="5400000">
              <a:srgbClr val="000000">
                <a:alpha val="10000"/>
              </a:srgbClr>
            </a:outerShdw>
          </a:effectLst>
        </p:spPr>
      </p:sp>
      <p:sp>
        <p:nvSpPr>
          <p:cNvPr id="5" name="Text 3"/>
          <p:cNvSpPr txBox="1"/>
          <p:nvPr/>
        </p:nvSpPr>
        <p:spPr>
          <a:xfrm>
            <a:off x="960120" y="2057400"/>
            <a:ext cx="4709160" cy="365760"/>
          </a:xfrm>
          <a:prstGeom prst="rect">
            <a:avLst/>
          </a:prstGeom>
          <a:noFill/>
          <a:ln/>
        </p:spPr>
        <p:txBody>
          <a:bodyPr wrap="square" lIns="0" tIns="0" rIns="0" bIns="0" rtlCol="0" anchor="ctr"/>
          <a:lstStyle/>
          <a:p>
            <a:pPr indent="0" marL="0">
              <a:buNone/>
            </a:pPr>
            <a:r>
              <a:rPr lang="en-US" sz="1800" b="1" dirty="0">
                <a:solidFill>
                  <a:srgbClr val="0C6B2E"/>
                </a:solidFill>
                <a:latin typeface="Calibri" pitchFamily="34" charset="0"/>
                <a:ea typeface="Calibri" pitchFamily="34" charset="-122"/>
                <a:cs typeface="Calibri" pitchFamily="34" charset="-120"/>
              </a:rPr>
              <a:t>Gemessen</a:t>
            </a:r>
            <a:endParaRPr lang="en-US" sz="1800" dirty="0"/>
          </a:p>
        </p:txBody>
      </p:sp>
      <p:sp>
        <p:nvSpPr>
          <p:cNvPr id="6" name="Text 4"/>
          <p:cNvSpPr txBox="1"/>
          <p:nvPr/>
        </p:nvSpPr>
        <p:spPr>
          <a:xfrm>
            <a:off x="960120" y="2514600"/>
            <a:ext cx="4709160" cy="26517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Regelkonformität unter Knappheit: 100 % gegenüber 0 % der Pläne</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Spanne der Auslastung 5 statt 33 Prozentpunkte, nach Ausfällen 25 statt 32</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Planänderungen je Monat mit Ausfällen: 22,8 statt 30,3 — ein Viertel weniger</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Umplanung in rund einer halben Sekunde</a:t>
            </a:r>
            <a:endParaRPr lang="en-US" sz="1400" dirty="0"/>
          </a:p>
        </p:txBody>
      </p:sp>
      <p:sp>
        <p:nvSpPr>
          <p:cNvPr id="7" name="Shape 5"/>
          <p:cNvSpPr/>
          <p:nvPr/>
        </p:nvSpPr>
        <p:spPr>
          <a:xfrm>
            <a:off x="6309360" y="1828800"/>
            <a:ext cx="5239512" cy="3566160"/>
          </a:xfrm>
          <a:prstGeom prst="roundRect">
            <a:avLst>
              <a:gd name="adj" fmla="val 2051"/>
            </a:avLst>
          </a:prstGeom>
          <a:solidFill>
            <a:srgbClr val="F7F2E8"/>
          </a:solidFill>
          <a:ln w="12700">
            <a:solidFill>
              <a:srgbClr val="F7F2E8"/>
            </a:solidFill>
            <a:prstDash val="solid"/>
          </a:ln>
          <a:effectLst>
            <a:outerShdw sx="100000" sy="100000" kx="0" ky="0" algn="bl" rotWithShape="0" blurRad="76200" dist="12700" dir="5400000">
              <a:srgbClr val="000000">
                <a:alpha val="10000"/>
              </a:srgbClr>
            </a:outerShdw>
          </a:effectLst>
        </p:spPr>
      </p:sp>
      <p:sp>
        <p:nvSpPr>
          <p:cNvPr id="8" name="Text 6"/>
          <p:cNvSpPr txBox="1"/>
          <p:nvPr/>
        </p:nvSpPr>
        <p:spPr>
          <a:xfrm>
            <a:off x="6629400" y="2057400"/>
            <a:ext cx="4599432" cy="365760"/>
          </a:xfrm>
          <a:prstGeom prst="rect">
            <a:avLst/>
          </a:prstGeom>
          <a:noFill/>
          <a:ln/>
        </p:spPr>
        <p:txBody>
          <a:bodyPr wrap="square" lIns="0" tIns="0" rIns="0" bIns="0" rtlCol="0" anchor="ctr"/>
          <a:lstStyle/>
          <a:p>
            <a:pPr indent="0" marL="0">
              <a:buNone/>
            </a:pPr>
            <a:r>
              <a:rPr lang="en-US" sz="1800" b="1" dirty="0">
                <a:solidFill>
                  <a:srgbClr val="8A5A12"/>
                </a:solidFill>
                <a:latin typeface="Calibri" pitchFamily="34" charset="0"/>
                <a:ea typeface="Calibri" pitchFamily="34" charset="-122"/>
                <a:cs typeface="Calibri" pitchFamily="34" charset="-120"/>
              </a:rPr>
              <a:t>Geschätzt — nicht belegt</a:t>
            </a:r>
            <a:endParaRPr lang="en-US" sz="1800" dirty="0"/>
          </a:p>
        </p:txBody>
      </p:sp>
      <p:sp>
        <p:nvSpPr>
          <p:cNvPr id="9" name="Text 7"/>
          <p:cNvSpPr txBox="1"/>
          <p:nvPr/>
        </p:nvSpPr>
        <p:spPr>
          <a:xfrm>
            <a:off x="6629400" y="2514600"/>
            <a:ext cx="4599432" cy="26517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Reduktion des manuellen Planungsaufwands</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Wirkung gleichmäßigerer Belastung auf Zufriedenheit und Fluktuation</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Vermiedene Bettensperrungen und Sanktionen</a:t>
            </a:r>
            <a:endParaRPr lang="en-US" sz="1400" dirty="0"/>
          </a:p>
          <a:p>
            <a:pPr marL="342900" indent="-342900">
              <a:lnSpc>
                <a:spcPts val="2000"/>
              </a:lnSpc>
              <a:spcAft>
                <a:spcPts val="800"/>
              </a:spcAft>
              <a:buSzPct val="100000"/>
              <a:buChar char="•"/>
            </a:pPr>
            <a:r>
              <a:rPr lang="en-US" sz="1400" dirty="0">
                <a:solidFill>
                  <a:srgbClr val="52514E"/>
                </a:solidFill>
                <a:latin typeface="Calibri" pitchFamily="34" charset="0"/>
                <a:ea typeface="Calibri" pitchFamily="34" charset="-122"/>
                <a:cs typeface="Calibri" pitchFamily="34" charset="-120"/>
              </a:rPr>
              <a:t>Alle drei erfordern eine Erhebung im Betrieb, keine Simulation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11480"/>
            <a:ext cx="10908792"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Limitationen und Risiken</a:t>
            </a:r>
            <a:endParaRPr lang="en-US" sz="3200" dirty="0"/>
          </a:p>
        </p:txBody>
      </p:sp>
      <p:sp>
        <p:nvSpPr>
          <p:cNvPr id="3" name="Text 1"/>
          <p:cNvSpPr txBox="1"/>
          <p:nvPr/>
        </p:nvSpPr>
        <p:spPr>
          <a:xfrm>
            <a:off x="640080" y="1078992"/>
            <a:ext cx="10908792" cy="457200"/>
          </a:xfrm>
          <a:prstGeom prst="rect">
            <a:avLst/>
          </a:prstGeom>
          <a:noFill/>
          <a:ln/>
        </p:spPr>
        <p:txBody>
          <a:bodyPr wrap="square" lIns="0" tIns="0" rIns="0" bIns="0" rtlCol="0" anchor="ctr"/>
          <a:lstStyle/>
          <a:p>
            <a:pPr indent="0" marL="0">
              <a:buNone/>
            </a:pPr>
            <a:r>
              <a:rPr lang="en-US" sz="1500" i="1" dirty="0">
                <a:solidFill>
                  <a:srgbClr val="52514E"/>
                </a:solidFill>
                <a:latin typeface="Calibri" pitchFamily="34" charset="0"/>
                <a:ea typeface="Calibri" pitchFamily="34" charset="-122"/>
                <a:cs typeface="Calibri" pitchFamily="34" charset="-120"/>
              </a:rPr>
              <a:t>Was die Untersuchung nicht hergibt.</a:t>
            </a:r>
            <a:endParaRPr lang="en-US" sz="1500" dirty="0"/>
          </a:p>
        </p:txBody>
      </p:sp>
      <p:sp>
        <p:nvSpPr>
          <p:cNvPr id="4" name="Shape 2"/>
          <p:cNvSpPr/>
          <p:nvPr/>
        </p:nvSpPr>
        <p:spPr>
          <a:xfrm>
            <a:off x="640080" y="1837944"/>
            <a:ext cx="237744" cy="237744"/>
          </a:xfrm>
          <a:prstGeom prst="ellipse">
            <a:avLst/>
          </a:prstGeom>
          <a:solidFill>
            <a:srgbClr val="1E2761"/>
          </a:solidFill>
          <a:ln w="12700">
            <a:solidFill>
              <a:srgbClr val="333333"/>
            </a:solidFill>
            <a:prstDash val="solid"/>
          </a:ln>
        </p:spPr>
      </p:sp>
      <p:sp>
        <p:nvSpPr>
          <p:cNvPr id="5" name="Text 3"/>
          <p:cNvSpPr txBox="1"/>
          <p:nvPr/>
        </p:nvSpPr>
        <p:spPr>
          <a:xfrm>
            <a:off x="1051560" y="178308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Fünf Seeds sind wenig</a:t>
            </a:r>
            <a:endParaRPr lang="en-US" sz="1500" dirty="0"/>
          </a:p>
        </p:txBody>
      </p:sp>
      <p:sp>
        <p:nvSpPr>
          <p:cNvPr id="6" name="Text 4"/>
          <p:cNvSpPr txBox="1"/>
          <p:nvPr/>
        </p:nvSpPr>
        <p:spPr>
          <a:xfrm>
            <a:off x="1051560" y="207568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Die Streuungen tragen die Kernaussagen, für Inferenzstatistik reicht die Stichprobe nicht</a:t>
            </a:r>
            <a:endParaRPr lang="en-US" sz="1300" dirty="0"/>
          </a:p>
        </p:txBody>
      </p:sp>
      <p:sp>
        <p:nvSpPr>
          <p:cNvPr id="7" name="Shape 5"/>
          <p:cNvSpPr/>
          <p:nvPr/>
        </p:nvSpPr>
        <p:spPr>
          <a:xfrm>
            <a:off x="640080" y="2935224"/>
            <a:ext cx="237744" cy="237744"/>
          </a:xfrm>
          <a:prstGeom prst="ellipse">
            <a:avLst/>
          </a:prstGeom>
          <a:solidFill>
            <a:srgbClr val="EB6834"/>
          </a:solidFill>
          <a:ln w="12700">
            <a:solidFill>
              <a:srgbClr val="333333"/>
            </a:solidFill>
            <a:prstDash val="solid"/>
          </a:ln>
        </p:spPr>
      </p:sp>
      <p:sp>
        <p:nvSpPr>
          <p:cNvPr id="8" name="Text 6"/>
          <p:cNvSpPr txBox="1"/>
          <p:nvPr/>
        </p:nvSpPr>
        <p:spPr>
          <a:xfrm>
            <a:off x="1051560" y="288036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Die Baseline ist keine echte Excel-Planung</a:t>
            </a:r>
            <a:endParaRPr lang="en-US" sz="1500" dirty="0"/>
          </a:p>
        </p:txBody>
      </p:sp>
      <p:sp>
        <p:nvSpPr>
          <p:cNvPr id="9" name="Text 7"/>
          <p:cNvSpPr txBox="1"/>
          <p:nvPr/>
        </p:nvSpPr>
        <p:spPr>
          <a:xfrm>
            <a:off x="1051560" y="317296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Sie ist konsistenter und schneller als ein Mensch — der reale Unterschied dürfte größer sein</a:t>
            </a:r>
            <a:endParaRPr lang="en-US" sz="1300" dirty="0"/>
          </a:p>
        </p:txBody>
      </p:sp>
      <p:sp>
        <p:nvSpPr>
          <p:cNvPr id="10" name="Shape 8"/>
          <p:cNvSpPr/>
          <p:nvPr/>
        </p:nvSpPr>
        <p:spPr>
          <a:xfrm>
            <a:off x="640080" y="4032504"/>
            <a:ext cx="237744" cy="237744"/>
          </a:xfrm>
          <a:prstGeom prst="ellipse">
            <a:avLst/>
          </a:prstGeom>
          <a:solidFill>
            <a:srgbClr val="1E2761"/>
          </a:solidFill>
          <a:ln w="12700">
            <a:solidFill>
              <a:srgbClr val="333333"/>
            </a:solidFill>
            <a:prstDash val="solid"/>
          </a:ln>
        </p:spPr>
      </p:sp>
      <p:sp>
        <p:nvSpPr>
          <p:cNvPr id="11" name="Text 9"/>
          <p:cNvSpPr txBox="1"/>
          <p:nvPr/>
        </p:nvSpPr>
        <p:spPr>
          <a:xfrm>
            <a:off x="1051560" y="397764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Gewichte sind gesetzt, nicht hergeleitet</a:t>
            </a:r>
            <a:endParaRPr lang="en-US" sz="1500" dirty="0"/>
          </a:p>
        </p:txBody>
      </p:sp>
      <p:sp>
        <p:nvSpPr>
          <p:cNvPr id="12" name="Text 10"/>
          <p:cNvSpPr txBox="1"/>
          <p:nvPr/>
        </p:nvSpPr>
        <p:spPr>
          <a:xfrm>
            <a:off x="1051560" y="427024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Wie stark Unterbesetzung gegen Lastverteilung zählt, ist eine Managemententscheidung</a:t>
            </a:r>
            <a:endParaRPr lang="en-US" sz="1300" dirty="0"/>
          </a:p>
        </p:txBody>
      </p:sp>
      <p:sp>
        <p:nvSpPr>
          <p:cNvPr id="13" name="Shape 11"/>
          <p:cNvSpPr/>
          <p:nvPr/>
        </p:nvSpPr>
        <p:spPr>
          <a:xfrm>
            <a:off x="640080" y="5129784"/>
            <a:ext cx="237744" cy="237744"/>
          </a:xfrm>
          <a:prstGeom prst="ellipse">
            <a:avLst/>
          </a:prstGeom>
          <a:solidFill>
            <a:srgbClr val="EB6834"/>
          </a:solidFill>
          <a:ln w="12700">
            <a:solidFill>
              <a:srgbClr val="333333"/>
            </a:solidFill>
            <a:prstDash val="solid"/>
          </a:ln>
        </p:spPr>
      </p:sp>
      <p:sp>
        <p:nvSpPr>
          <p:cNvPr id="14" name="Text 12"/>
          <p:cNvSpPr txBox="1"/>
          <p:nvPr/>
        </p:nvSpPr>
        <p:spPr>
          <a:xfrm>
            <a:off x="1051560" y="507492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Alle Ausfälle sind beim Umplanen bekannt</a:t>
            </a:r>
            <a:endParaRPr lang="en-US" sz="1500" dirty="0"/>
          </a:p>
        </p:txBody>
      </p:sp>
      <p:sp>
        <p:nvSpPr>
          <p:cNvPr id="15" name="Text 13"/>
          <p:cNvSpPr txBox="1"/>
          <p:nvPr/>
        </p:nvSpPr>
        <p:spPr>
          <a:xfrm>
            <a:off x="1051560" y="536752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Real kommen sie einzeln — eine rollierende Umplanung wäre der härtere Test</a:t>
            </a:r>
            <a:endParaRPr lang="en-US" sz="1300" dirty="0"/>
          </a:p>
        </p:txBody>
      </p:sp>
      <p:sp>
        <p:nvSpPr>
          <p:cNvPr id="16" name="Shape 14"/>
          <p:cNvSpPr/>
          <p:nvPr/>
        </p:nvSpPr>
        <p:spPr>
          <a:xfrm>
            <a:off x="6400800" y="1837944"/>
            <a:ext cx="237744" cy="237744"/>
          </a:xfrm>
          <a:prstGeom prst="ellipse">
            <a:avLst/>
          </a:prstGeom>
          <a:solidFill>
            <a:srgbClr val="1E2761"/>
          </a:solidFill>
          <a:ln w="12700">
            <a:solidFill>
              <a:srgbClr val="333333"/>
            </a:solidFill>
            <a:prstDash val="solid"/>
          </a:ln>
        </p:spPr>
      </p:sp>
      <p:sp>
        <p:nvSpPr>
          <p:cNvPr id="17" name="Text 15"/>
          <p:cNvSpPr txBox="1"/>
          <p:nvPr/>
        </p:nvSpPr>
        <p:spPr>
          <a:xfrm>
            <a:off x="6812280" y="178308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Alle Daten sind synthetisch</a:t>
            </a:r>
            <a:endParaRPr lang="en-US" sz="1500" dirty="0"/>
          </a:p>
        </p:txBody>
      </p:sp>
      <p:sp>
        <p:nvSpPr>
          <p:cNvPr id="18" name="Text 16"/>
          <p:cNvSpPr txBox="1"/>
          <p:nvPr/>
        </p:nvSpPr>
        <p:spPr>
          <a:xfrm>
            <a:off x="6812280" y="207568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Die Höhe der Kennzahlen ist nicht auf eine konkrete Station übertragbar</a:t>
            </a:r>
            <a:endParaRPr lang="en-US" sz="1300" dirty="0"/>
          </a:p>
        </p:txBody>
      </p:sp>
      <p:sp>
        <p:nvSpPr>
          <p:cNvPr id="19" name="Shape 17"/>
          <p:cNvSpPr/>
          <p:nvPr/>
        </p:nvSpPr>
        <p:spPr>
          <a:xfrm>
            <a:off x="6400800" y="2935224"/>
            <a:ext cx="237744" cy="237744"/>
          </a:xfrm>
          <a:prstGeom prst="ellipse">
            <a:avLst/>
          </a:prstGeom>
          <a:solidFill>
            <a:srgbClr val="EB6834"/>
          </a:solidFill>
          <a:ln w="12700">
            <a:solidFill>
              <a:srgbClr val="333333"/>
            </a:solidFill>
            <a:prstDash val="solid"/>
          </a:ln>
        </p:spPr>
      </p:sp>
      <p:sp>
        <p:nvSpPr>
          <p:cNvPr id="20" name="Text 18"/>
          <p:cNvSpPr txBox="1"/>
          <p:nvPr/>
        </p:nvSpPr>
        <p:spPr>
          <a:xfrm>
            <a:off x="6812280" y="288036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Optimierung ersetzt kein Personal</a:t>
            </a:r>
            <a:endParaRPr lang="en-US" sz="1500" dirty="0"/>
          </a:p>
        </p:txBody>
      </p:sp>
      <p:sp>
        <p:nvSpPr>
          <p:cNvPr id="21" name="Text 19"/>
          <p:cNvSpPr txBox="1"/>
          <p:nvPr/>
        </p:nvSpPr>
        <p:spPr>
          <a:xfrm>
            <a:off x="6812280" y="317296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Bei extremer Knappheit verwaltet auch das beste Verfahren nur noch den Mangel</a:t>
            </a:r>
            <a:endParaRPr lang="en-US" sz="1300" dirty="0"/>
          </a:p>
        </p:txBody>
      </p:sp>
      <p:sp>
        <p:nvSpPr>
          <p:cNvPr id="22" name="Shape 20"/>
          <p:cNvSpPr/>
          <p:nvPr/>
        </p:nvSpPr>
        <p:spPr>
          <a:xfrm>
            <a:off x="6400800" y="4032504"/>
            <a:ext cx="237744" cy="237744"/>
          </a:xfrm>
          <a:prstGeom prst="ellipse">
            <a:avLst/>
          </a:prstGeom>
          <a:solidFill>
            <a:srgbClr val="1E2761"/>
          </a:solidFill>
          <a:ln w="12700">
            <a:solidFill>
              <a:srgbClr val="333333"/>
            </a:solidFill>
            <a:prstDash val="solid"/>
          </a:ln>
        </p:spPr>
      </p:sp>
      <p:sp>
        <p:nvSpPr>
          <p:cNvPr id="23" name="Text 21"/>
          <p:cNvSpPr txBox="1"/>
          <p:nvPr/>
        </p:nvSpPr>
        <p:spPr>
          <a:xfrm>
            <a:off x="6812280" y="397764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Verantwortung bleibt beim Menschen</a:t>
            </a:r>
            <a:endParaRPr lang="en-US" sz="1500" dirty="0"/>
          </a:p>
        </p:txBody>
      </p:sp>
      <p:sp>
        <p:nvSpPr>
          <p:cNvPr id="24" name="Text 22"/>
          <p:cNvSpPr txBox="1"/>
          <p:nvPr/>
        </p:nvSpPr>
        <p:spPr>
          <a:xfrm>
            <a:off x="6812280" y="427024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Der Prototyp liefert eine Empfehlung, keine Freigabe — die Leitung entscheidet</a:t>
            </a:r>
            <a:endParaRPr lang="en-US" sz="1300" dirty="0"/>
          </a:p>
        </p:txBody>
      </p:sp>
      <p:sp>
        <p:nvSpPr>
          <p:cNvPr id="25" name="Shape 23"/>
          <p:cNvSpPr/>
          <p:nvPr/>
        </p:nvSpPr>
        <p:spPr>
          <a:xfrm>
            <a:off x="6400800" y="5129784"/>
            <a:ext cx="237744" cy="237744"/>
          </a:xfrm>
          <a:prstGeom prst="ellipse">
            <a:avLst/>
          </a:prstGeom>
          <a:solidFill>
            <a:srgbClr val="EB6834"/>
          </a:solidFill>
          <a:ln w="12700">
            <a:solidFill>
              <a:srgbClr val="333333"/>
            </a:solidFill>
            <a:prstDash val="solid"/>
          </a:ln>
        </p:spPr>
      </p:sp>
      <p:sp>
        <p:nvSpPr>
          <p:cNvPr id="26" name="Text 24"/>
          <p:cNvSpPr txBox="1"/>
          <p:nvPr/>
        </p:nvSpPr>
        <p:spPr>
          <a:xfrm>
            <a:off x="6812280" y="5074920"/>
            <a:ext cx="4800600" cy="29260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Ein Modellfehler fiel spät auf</a:t>
            </a:r>
            <a:endParaRPr lang="en-US" sz="1500" dirty="0"/>
          </a:p>
        </p:txBody>
      </p:sp>
      <p:sp>
        <p:nvSpPr>
          <p:cNvPr id="27" name="Text 25"/>
          <p:cNvSpPr txBox="1"/>
          <p:nvPr/>
        </p:nvSpPr>
        <p:spPr>
          <a:xfrm>
            <a:off x="6812280" y="5367528"/>
            <a:ext cx="4800600" cy="384048"/>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Krankheitstage wurden zunächst nicht gutgeschrieben — drei Aussagen sind zurückgenommen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822960"/>
            <a:ext cx="10881360" cy="548640"/>
          </a:xfrm>
          <a:prstGeom prst="rect">
            <a:avLst/>
          </a:prstGeom>
          <a:noFill/>
          <a:ln/>
        </p:spPr>
        <p:txBody>
          <a:bodyPr wrap="square" lIns="0" tIns="0" rIns="0" bIns="0" rtlCol="0" anchor="ctr"/>
          <a:lstStyle/>
          <a:p>
            <a:pPr indent="0" marL="0">
              <a:buNone/>
            </a:pPr>
            <a:r>
              <a:rPr lang="en-US" sz="1400" b="1" spc="200" kern="0" dirty="0">
                <a:solidFill>
                  <a:srgbClr val="EB6834"/>
                </a:solidFill>
                <a:latin typeface="Calibri" pitchFamily="34" charset="0"/>
                <a:ea typeface="Calibri" pitchFamily="34" charset="-122"/>
                <a:cs typeface="Calibri" pitchFamily="34" charset="-120"/>
              </a:rPr>
              <a:t>Fazit</a:t>
            </a:r>
            <a:endParaRPr lang="en-US" sz="1400" dirty="0"/>
          </a:p>
        </p:txBody>
      </p:sp>
      <p:sp>
        <p:nvSpPr>
          <p:cNvPr id="3" name="Text 1"/>
          <p:cNvSpPr txBox="1"/>
          <p:nvPr/>
        </p:nvSpPr>
        <p:spPr>
          <a:xfrm>
            <a:off x="640080" y="1371600"/>
            <a:ext cx="10881360" cy="1371600"/>
          </a:xfrm>
          <a:prstGeom prst="rect">
            <a:avLst/>
          </a:prstGeom>
          <a:noFill/>
          <a:ln/>
        </p:spPr>
        <p:txBody>
          <a:bodyPr wrap="square" lIns="0" tIns="0" rIns="0" bIns="0" rtlCol="0" anchor="ctr"/>
          <a:lstStyle/>
          <a:p>
            <a:pPr indent="0" marL="0">
              <a:lnSpc>
                <a:spcPts val="4400"/>
              </a:lnSpc>
              <a:buNone/>
            </a:pPr>
            <a:r>
              <a:rPr lang="en-US" sz="3400" b="1" dirty="0">
                <a:solidFill>
                  <a:srgbClr val="FFFFFF"/>
                </a:solidFill>
                <a:latin typeface="Cambria" pitchFamily="34" charset="0"/>
                <a:ea typeface="Cambria" pitchFamily="34" charset="-122"/>
                <a:cs typeface="Cambria" pitchFamily="34" charset="-120"/>
              </a:rPr>
              <a:t>Optimierung schlägt Heuristik dann,</a:t>
            </a:r>
            <a:endParaRPr lang="en-US" sz="3400" dirty="0"/>
          </a:p>
          <a:p>
            <a:pPr indent="0" marL="0">
              <a:lnSpc>
                <a:spcPts val="4400"/>
              </a:lnSpc>
              <a:buNone/>
            </a:pPr>
            <a:r>
              <a:rPr lang="en-US" sz="3400" b="1" dirty="0">
                <a:solidFill>
                  <a:srgbClr val="FFFFFF"/>
                </a:solidFill>
                <a:latin typeface="Cambria" pitchFamily="34" charset="0"/>
                <a:ea typeface="Cambria" pitchFamily="34" charset="-122"/>
                <a:cs typeface="Cambria" pitchFamily="34" charset="-120"/>
              </a:rPr>
              <a:t>wenn die richtigen Ziele im Modell stehen.</a:t>
            </a:r>
            <a:endParaRPr lang="en-US" sz="3400" dirty="0"/>
          </a:p>
        </p:txBody>
      </p:sp>
      <p:sp>
        <p:nvSpPr>
          <p:cNvPr id="4" name="Text 2"/>
          <p:cNvSpPr txBox="1"/>
          <p:nvPr/>
        </p:nvSpPr>
        <p:spPr>
          <a:xfrm>
            <a:off x="640080" y="3063240"/>
            <a:ext cx="10881360" cy="914400"/>
          </a:xfrm>
          <a:prstGeom prst="rect">
            <a:avLst/>
          </a:prstGeom>
          <a:noFill/>
          <a:ln/>
        </p:spPr>
        <p:txBody>
          <a:bodyPr wrap="square" lIns="0" tIns="0" rIns="0" bIns="0" rtlCol="0" anchor="ctr"/>
          <a:lstStyle/>
          <a:p>
            <a:pPr indent="0" marL="0">
              <a:lnSpc>
                <a:spcPts val="2400"/>
              </a:lnSpc>
              <a:buNone/>
            </a:pPr>
            <a:r>
              <a:rPr lang="en-US" sz="1600" b="1" dirty="0">
                <a:solidFill>
                  <a:srgbClr val="CADCFC"/>
                </a:solidFill>
                <a:latin typeface="Calibri" pitchFamily="34" charset="0"/>
                <a:ea typeface="Calibri" pitchFamily="34" charset="-122"/>
                <a:cs typeface="Calibri" pitchFamily="34" charset="-120"/>
              </a:rPr>
              <a:t>Bei der Erstellung </a:t>
            </a:r>
            <a:pPr indent="0" marL="0">
              <a:lnSpc>
                <a:spcPts val="2400"/>
              </a:lnSpc>
              <a:buNone/>
            </a:pPr>
            <a:r>
              <a:rPr lang="en-US" sz="1600" dirty="0">
                <a:solidFill>
                  <a:srgbClr val="CADCFC"/>
                </a:solidFill>
                <a:latin typeface="Calibri" pitchFamily="34" charset="0"/>
                <a:ea typeface="Calibri" pitchFamily="34" charset="-122"/>
                <a:cs typeface="Calibri" pitchFamily="34" charset="-120"/>
              </a:rPr>
              <a:t>liegt der Mehrwert nicht in der Machbarkeit, sondern in Regelkonformität unter Knappheit und in der Verteilungsgerechtigkeit. Ist genug Personal da, sichert auch eine Regelheuristik die Rechtskonformität — den Unterschied macht dann die Lastverteilung.</a:t>
            </a:r>
            <a:endParaRPr lang="en-US" sz="1600" dirty="0"/>
          </a:p>
        </p:txBody>
      </p:sp>
      <p:sp>
        <p:nvSpPr>
          <p:cNvPr id="5" name="Text 3"/>
          <p:cNvSpPr txBox="1"/>
          <p:nvPr/>
        </p:nvSpPr>
        <p:spPr>
          <a:xfrm>
            <a:off x="640080" y="4069080"/>
            <a:ext cx="10881360" cy="914400"/>
          </a:xfrm>
          <a:prstGeom prst="rect">
            <a:avLst/>
          </a:prstGeom>
          <a:noFill/>
          <a:ln/>
        </p:spPr>
        <p:txBody>
          <a:bodyPr wrap="square" lIns="0" tIns="0" rIns="0" bIns="0" rtlCol="0" anchor="ctr"/>
          <a:lstStyle/>
          <a:p>
            <a:pPr indent="0" marL="0">
              <a:lnSpc>
                <a:spcPts val="2400"/>
              </a:lnSpc>
              <a:buNone/>
            </a:pPr>
            <a:r>
              <a:rPr lang="en-US" sz="1600" b="1" dirty="0">
                <a:solidFill>
                  <a:srgbClr val="CADCFC"/>
                </a:solidFill>
                <a:latin typeface="Calibri" pitchFamily="34" charset="0"/>
                <a:ea typeface="Calibri" pitchFamily="34" charset="-122"/>
                <a:cs typeface="Calibri" pitchFamily="34" charset="-120"/>
              </a:rPr>
              <a:t>Bei der Anpassung </a:t>
            </a:r>
            <a:pPr indent="0" marL="0">
              <a:lnSpc>
                <a:spcPts val="2400"/>
              </a:lnSpc>
              <a:buNone/>
            </a:pPr>
            <a:r>
              <a:rPr lang="en-US" sz="1600" dirty="0">
                <a:solidFill>
                  <a:srgbClr val="CADCFC"/>
                </a:solidFill>
                <a:latin typeface="Calibri" pitchFamily="34" charset="0"/>
                <a:ea typeface="Calibri" pitchFamily="34" charset="-122"/>
                <a:cs typeface="Calibri" pitchFamily="34" charset="-120"/>
              </a:rPr>
              <a:t>liegt er in der Planstabilität — aber nur, wenn Stabilität ausdrücklich als Ziel modelliert wird. Eine bloße Neuoptimierung ist für die Mitarbeitenden schlechter als die Heuristik.</a:t>
            </a:r>
            <a:endParaRPr lang="en-US" sz="1600" dirty="0"/>
          </a:p>
        </p:txBody>
      </p:sp>
      <p:sp>
        <p:nvSpPr>
          <p:cNvPr id="6" name="Text 4"/>
          <p:cNvSpPr txBox="1"/>
          <p:nvPr/>
        </p:nvSpPr>
        <p:spPr>
          <a:xfrm>
            <a:off x="640080" y="5257800"/>
            <a:ext cx="10881360" cy="822960"/>
          </a:xfrm>
          <a:prstGeom prst="rect">
            <a:avLst/>
          </a:prstGeom>
          <a:noFill/>
          <a:ln/>
        </p:spPr>
        <p:txBody>
          <a:bodyPr wrap="square" lIns="0" tIns="0" rIns="0" bIns="0" rtlCol="0" anchor="ctr"/>
          <a:lstStyle/>
          <a:p>
            <a:pPr indent="0" marL="0">
              <a:lnSpc>
                <a:spcPts val="2400"/>
              </a:lnSpc>
              <a:buNone/>
            </a:pPr>
            <a:r>
              <a:rPr lang="en-US" sz="1600" b="1" dirty="0">
                <a:solidFill>
                  <a:srgbClr val="FFFFFF"/>
                </a:solidFill>
                <a:latin typeface="Calibri" pitchFamily="34" charset="0"/>
                <a:ea typeface="Calibri" pitchFamily="34" charset="-122"/>
                <a:cs typeface="Calibri" pitchFamily="34" charset="-120"/>
              </a:rPr>
              <a:t>Empfehlung: Optimierung dort einführen, wo Stationen dauerhaft knapp besetzt sind — und Planstabilität von Anfang an als Ziel mitgeben, nicht als Nebeneffekt erhoffen.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KI-gestützte Schichtplanung in der Pflege</dc:title>
  <dc:subject>PptxGenJS Presentation</dc:subject>
  <dc:creator>Projektteam KI &amp; Management</dc:creator>
  <cp:lastModifiedBy>Projektteam KI &amp; Management</cp:lastModifiedBy>
  <cp:revision>1</cp:revision>
  <dcterms:created xsi:type="dcterms:W3CDTF">2026-09-21T18:40:21Z</dcterms:created>
  <dcterms:modified xsi:type="dcterms:W3CDTF">2026-09-21T18:40:21Z</dcterms:modified>
</cp:coreProperties>
</file>